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6348fa22d14313" /><Relationship Type="http://schemas.openxmlformats.org/officeDocument/2006/relationships/extended-properties" Target="/docProps/app.xml" Id="Rde4495350f674701" /><Relationship Type="http://schemas.openxmlformats.org/officeDocument/2006/relationships/officeDocument" Target="/ppt/presentation.xml" Id="R4303c882a5e548c4" /></Relationships>
</file>

<file path=ppt/presentation.xml><?xml version="1.0" encoding="utf-8"?>
<p:presentation xmlns:p="http://schemas.openxmlformats.org/presentationml/2006/main">
  <p:sldMasterIdLst>
    <p:sldMasterId xmlns:r="http://schemas.openxmlformats.org/officeDocument/2006/relationships" id="2147483648" r:id="Rb94c4d7dd7df49ca"/>
  </p:sldMasterIdLst>
  <p:notesMasterIdLst>
    <p:notesMasterId xmlns:r="http://schemas.openxmlformats.org/officeDocument/2006/relationships" r:id="R7be97486b9ba4e39"/>
  </p:notesMasterIdLst>
  <p:sldIdLst>
    <p:sldId xmlns:r="http://schemas.openxmlformats.org/officeDocument/2006/relationships" id="256" r:id="Rcc4cd8d915054199"/>
    <p:sldId xmlns:r="http://schemas.openxmlformats.org/officeDocument/2006/relationships" id="257" r:id="R997d5ca7c73449f3"/>
    <p:sldId xmlns:r="http://schemas.openxmlformats.org/officeDocument/2006/relationships" id="258" r:id="Ra9e6a1a03fef4ab3"/>
    <p:sldId xmlns:r="http://schemas.openxmlformats.org/officeDocument/2006/relationships" id="259" r:id="R9ffe863e3bf34f93"/>
    <p:sldId xmlns:r="http://schemas.openxmlformats.org/officeDocument/2006/relationships" id="260" r:id="R7120b3c9465c45a1"/>
    <p:sldId xmlns:r="http://schemas.openxmlformats.org/officeDocument/2006/relationships" id="261" r:id="R1c2bf52b6ef0447e"/>
    <p:sldId xmlns:r="http://schemas.openxmlformats.org/officeDocument/2006/relationships" id="262" r:id="Rff9dffdf4f8a4ef1"/>
    <p:sldId xmlns:r="http://schemas.openxmlformats.org/officeDocument/2006/relationships" id="263" r:id="R936ade4290124cf7"/>
    <p:sldId xmlns:r="http://schemas.openxmlformats.org/officeDocument/2006/relationships" id="264" r:id="Rce5f192fe13944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820e563a21408b" /><Relationship Type="http://schemas.openxmlformats.org/officeDocument/2006/relationships/slideMaster" Target="/ppt/slideMasters/slideMaster1.xml" Id="Rb94c4d7dd7df49ca" /><Relationship Type="http://schemas.openxmlformats.org/officeDocument/2006/relationships/notesMaster" Target="/ppt/notesMasters/notesMaster1.xml" Id="R7be97486b9ba4e39" /><Relationship Type="http://schemas.openxmlformats.org/officeDocument/2006/relationships/presProps" Target="/ppt/presProps.xml" Id="R8d306cf5293e44fb" /><Relationship Type="http://schemas.openxmlformats.org/officeDocument/2006/relationships/tableStyles" Target="/ppt/tableStyles.xml" Id="Rf3a4275f579a40f2" /><Relationship Type="http://schemas.openxmlformats.org/officeDocument/2006/relationships/slide" Target="/ppt/slides/slide1.xml" Id="Rcc4cd8d915054199" /><Relationship Type="http://schemas.openxmlformats.org/officeDocument/2006/relationships/slide" Target="/ppt/slides/slide2.xml" Id="R997d5ca7c73449f3" /><Relationship Type="http://schemas.openxmlformats.org/officeDocument/2006/relationships/slide" Target="/ppt/slides/slide3.xml" Id="Ra9e6a1a03fef4ab3" /><Relationship Type="http://schemas.openxmlformats.org/officeDocument/2006/relationships/slide" Target="/ppt/slides/slide4.xml" Id="R9ffe863e3bf34f93" /><Relationship Type="http://schemas.openxmlformats.org/officeDocument/2006/relationships/slide" Target="/ppt/slides/slide5.xml" Id="R7120b3c9465c45a1" /><Relationship Type="http://schemas.openxmlformats.org/officeDocument/2006/relationships/slide" Target="/ppt/slides/slide6.xml" Id="R1c2bf52b6ef0447e" /><Relationship Type="http://schemas.openxmlformats.org/officeDocument/2006/relationships/slide" Target="/ppt/slides/slide7.xml" Id="Rff9dffdf4f8a4ef1" /><Relationship Type="http://schemas.openxmlformats.org/officeDocument/2006/relationships/slide" Target="/ppt/slides/slide8.xml" Id="R936ade4290124cf7" /><Relationship Type="http://schemas.openxmlformats.org/officeDocument/2006/relationships/slide" Target="/ppt/slides/slide9.xml" Id="Rce5f192fe13944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c6dc897b9748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c82ccad0704748" /><Relationship Type="http://schemas.openxmlformats.org/officeDocument/2006/relationships/notesMaster" Target="/ppt/notesMasters/notesMaster1.xml" Id="R8eb079041b644b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c970d560dc4978" /><Relationship Type="http://schemas.openxmlformats.org/officeDocument/2006/relationships/notesMaster" Target="/ppt/notesMasters/notesMaster1.xml" Id="Rcb68ff2a44ea48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1fa08eeec1438d" /><Relationship Type="http://schemas.openxmlformats.org/officeDocument/2006/relationships/notesMaster" Target="/ppt/notesMasters/notesMaster1.xml" Id="R6ba5082e90834d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9bc19bcdb04873" /><Relationship Type="http://schemas.openxmlformats.org/officeDocument/2006/relationships/notesMaster" Target="/ppt/notesMasters/notesMaster1.xml" Id="R61fb74d062af49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787e3d2a054442" /><Relationship Type="http://schemas.openxmlformats.org/officeDocument/2006/relationships/notesMaster" Target="/ppt/notesMasters/notesMaster1.xml" Id="R7397d47931cf4a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a4d018bd854d80" /><Relationship Type="http://schemas.openxmlformats.org/officeDocument/2006/relationships/notesMaster" Target="/ppt/notesMasters/notesMaster1.xml" Id="Rece6f422bb7940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fadad5dc9a4216" /><Relationship Type="http://schemas.openxmlformats.org/officeDocument/2006/relationships/notesMaster" Target="/ppt/notesMasters/notesMaster1.xml" Id="Ra8653636b04a47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6d24e2bb2a4b63" /><Relationship Type="http://schemas.openxmlformats.org/officeDocument/2006/relationships/notesMaster" Target="/ppt/notesMasters/notesMaster1.xml" Id="R862bebde251844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8e89fa725d48a0" /><Relationship Type="http://schemas.openxmlformats.org/officeDocument/2006/relationships/notesMaster" Target="/ppt/notesMasters/notesMaster1.xml" Id="R8f1246bac6bb47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employee needs to decide which supplier renewals to negotiate and what to ask for. ProofGate governs actual hosted AI composition, local private calculation and separately approved internal action.</a:t>
            </a:r>
          </a:p>
          <a:p xmlns:a="http://schemas.openxmlformats.org/drawingml/2006/main">
            <a:r>
              <a:t/>
            </a:r>
          </a:p>
          <a:p xmlns:a="http://schemas.openxmlformats.org/drawingml/2006/main">
            <a:r>
              <a:t>Sources: .planning/PROJECT.md; TEAM.md</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request is within 60 days, at most two renewal negotiations, earliest renewals first. Private quotes, current prices and company thresholds decide which records qualify and what the negotiation brief says.</a:t>
            </a:r>
          </a:p>
          <a:p xmlns:a="http://schemas.openxmlformats.org/drawingml/2006/main">
            <a:r>
              <a:t/>
            </a:r>
          </a:p>
          <a:p xmlns:a="http://schemas.openxmlformats.org/drawingml/2006/main">
            <a:r>
              <a:t>Sources: test/blind-intent-case.json; src/blind.ts; actual intention proof</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request and independent expected selection were frozen before the model reply. Actual AI returned the 60-day / soonest / two method. It chooses approved operations and parameters; it does not invent an algorithm or run arbitrary code.</a:t>
            </a:r>
          </a:p>
          <a:p xmlns:a="http://schemas.openxmlformats.org/drawingml/2006/main">
            <a:r>
              <a:t/>
            </a:r>
          </a:p>
          <a:p xmlns:a="http://schemas.openxmlformats.org/drawingml/2006/main">
            <a:r>
              <a:t>Sources: validated actual intention proof; test/blind-intent-case.json</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expected results change from Near/Middle to Middle/Large after private quote and price-rule changes. The retained admitted method and captured application bodies stay unchanged. Rebind adds zero provider attempts. The current screenshot observes a retained result and historical save; it establishes no new inference, rebind or save.</a:t>
            </a:r>
          </a:p>
          <a:p xmlns:a="http://schemas.openxmlformats.org/drawingml/2006/main">
            <a:r>
              <a:t/>
            </a:r>
          </a:p>
          <a:p xmlns:a="http://schemas.openxmlformats.org/drawingml/2006/main">
            <a:r>
              <a:t>Sources: validated actual intention rebind; genuine retained-run GET result capture</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hosted checker inspects the advisory before planner exposure and the full method before private access. Deterministic schemas/dependencies/current policy AND actual AI semantic inspection must permit the work. The local host then applies private facts. A separate typed internal-save action uses independent read-back. Authentication, actor, checker and tools share a finite allowance.</a:t>
            </a:r>
          </a:p>
          <a:p xmlns:a="http://schemas.openxmlformats.org/drawingml/2006/main">
            <a:r>
              <a:t/>
            </a:r>
          </a:p>
          <a:p xmlns:a="http://schemas.openxmlformats.org/drawingml/2006/main">
            <a:r>
              <a:t>Sources: src/blind.ts; src/prompt-profiles.ts; src/model.ts; src/host.ts; fixture/blind-server.ts; fixture/blind-store.ts</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serialized application bodies are captured at metered SDK dispatch. They are different from constructor specimens. The public task, capabilities, admitted advisory and recipe are disclosed. Headers/OAuth are omitted and transport metadata remains disclosed. Local host and employee access are trusted. No arbitrary-secret or formal confidentiality proof is claimed.</a:t>
            </a:r>
          </a:p>
          <a:p xmlns:a="http://schemas.openxmlformats.org/drawingml/2006/main">
            <a:r>
              <a:t/>
            </a:r>
          </a:p>
          <a:p xmlns:a="http://schemas.openxmlformats.org/drawingml/2006/main">
            <a:r>
              <a:t>Sources: actual SDK dispatch captures; src/prompt-profiles.ts; dated payload capture</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permitted registered MCP save was observed previously and independently matched the exact content, artifact and parent/action identities. Current GET capture is observation only. Stale save and deliberately manual external export refusal are separate negative cases. A benign advisory was admitted and the whole hostile paraphrase quarantined before actor exposure. This does not establish downstream causal benefit.</a:t>
            </a:r>
          </a:p>
          <a:p xmlns:a="http://schemas.openxmlformats.org/drawingml/2006/main">
            <a:r>
              <a:t/>
            </a:r>
          </a:p>
          <a:p xmlns:a="http://schemas.openxmlformats.org/drawingml/2006/main">
            <a:r>
              <a:t>Sources: actual intention proof; independent SQLite effects; current genuine controls capture</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Retained evidence: four advisory cases, two prepared compositions and one previously unprepared intention; exact internal saves and zero-attempt local rebinds. Four automated walkthroughs, zero human rehearsals. Backup is 48.933333 seconds and seven paced genuine historical captures, not continuous recording or latency. Original proof24 plus earlier walkthrough12 equals36, exceeding original combined32 forecast. Separately approved intention adds8 wires (3 model,1 auth,4 MCP); fourth walkthrough adds4 MCP, giving48 wires and15 model inferences. Recorded same-epoch checkpoint328 calls/89021463 credits has10 historical charged unknowns. Observed tokens are separate from conservative admission credits; tariff remains unpriced. One intention composition observed3.66s overall, hosted3.65s and local1.61ms; separate MCP save span10.95ms. Those are single observations, not benchmarks. Historical release on/off actors both succeeded safely, so no downstream causal benefit was observed. Source scoring and PM timing conflicts remain in TASK-CONTRACT.</a:t>
            </a:r>
          </a:p>
          <a:p xmlns:a="http://schemas.openxmlformats.org/drawingml/2006/main">
            <a:r>
              <a:t/>
            </a:r>
          </a:p>
          <a:p xmlns:a="http://schemas.openxmlformats.org/drawingml/2006/main">
            <a:r>
              <a:t>Sources: validated original and intention proofs; input accounting; submission/evidence.json; goldman/TASK-CONTRACT.md</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the judge to inspect the public request, change a private quote or rule through the authorized local scene and inspect the selection/brief/provider delta. Fresh actions require root-approved run/admission; retained playback must be labeled. Genuine team names are owner-provided, not invented contribution claims.</a:t>
            </a:r>
          </a:p>
          <a:p xmlns:a="http://schemas.openxmlformats.org/drawingml/2006/main">
            <a:r>
              <a:t/>
            </a:r>
          </a:p>
          <a:p xmlns:a="http://schemas.openxmlformats.org/drawingml/2006/main">
            <a:r>
              <a:t>Sources: TEAM.md; current validated proof and retained browser observations</a:t>
            </a:r>
          </a:p>
          <a:p xmlns:a="http://schemas.openxmlformats.org/drawingml/2006/main">
            <a:r>
              <a:t>Retained original proof date: 2026-10-04T01:29:53.383Z. Retained intention proof date: 2026-10-04T02:07:09.266Z. Browser capture date: 2026-10-04T07:54:36.814Z. Source revision: f1565c23ff185cb87587c6108be96dbec243b5ce. Capture scope: Current judge-story UI rendering of a consistent SQLite snapshot of the retained actual hosted run360c040e-16a1-4f81-ac76-1e1ec4ef6195. Authenticated GET-only loopback capture; model generation disabled, non-GET host routes rejected. No new inference, rebind or save. Previous public-input/control screenshots and actual composition/backup retain original dates; deployment UI banner is concurrently owned.; README-only documentary rebind to this revision; UI bytes identical to44c; no new capture/inference/rebind/save.</a:t>
            </a:r>
          </a:p>
          <a:p xmlns:a="http://schemas.openxmlformats.org/drawingml/2006/main">
            <a:r>
              <a:t>Disclosure: Synthetic supplier-renewal prototype. Public objective/capability descriptions and transport metadata remain disclosed. Local host/employee access is trusted. Targets are potential outcomes, never achieved savings. Current package evidence does not establish production security or formal noninterference.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736057bb6b42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56c6494a3b4108" /><Relationship Type="http://schemas.openxmlformats.org/officeDocument/2006/relationships/slideLayout" Target="/ppt/slideLayouts/slideLayout1.xml" Id="R20feae0d4c5041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feae0d4c5041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cd8e8c18dc4b14" /><Relationship Type="http://schemas.openxmlformats.org/officeDocument/2006/relationships/notesSlide" Target="/ppt/notesSlides/notesSlide1.xml" Id="Ra65e9aaad6e849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c8d5675af84b73" /><Relationship Type="http://schemas.openxmlformats.org/officeDocument/2006/relationships/notesSlide" Target="/ppt/notesSlides/notesSlide2.xml" Id="Rcd951eeed8a644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77057c7e914952" /><Relationship Type="http://schemas.openxmlformats.org/officeDocument/2006/relationships/notesSlide" Target="/ppt/notesSlides/notesSlide3.xml" Id="Rc45ad4db340340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b00c825766432e" /><Relationship Type="http://schemas.openxmlformats.org/officeDocument/2006/relationships/image" Target="/ppt/media/image.png" Id="R049f58a3b7ed4f67" /><Relationship Type="http://schemas.openxmlformats.org/officeDocument/2006/relationships/notesSlide" Target="/ppt/notesSlides/notesSlide4.xml" Id="Rb264e977d5fe4c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d7cc3a79b640d2" /><Relationship Type="http://schemas.openxmlformats.org/officeDocument/2006/relationships/notesSlide" Target="/ppt/notesSlides/notesSlide5.xml" Id="Rcfadd894a18f4a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740935315c457e" /><Relationship Type="http://schemas.openxmlformats.org/officeDocument/2006/relationships/image" Target="/ppt/media/image2.png" Id="Rb3da4c814b9a4055" /><Relationship Type="http://schemas.openxmlformats.org/officeDocument/2006/relationships/notesSlide" Target="/ppt/notesSlides/notesSlide6.xml" Id="R36b0e65d056a4b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2b72b29e324690" /><Relationship Type="http://schemas.openxmlformats.org/officeDocument/2006/relationships/image" Target="/ppt/media/image3.png" Id="Ra8bdb9041d904a7b" /><Relationship Type="http://schemas.openxmlformats.org/officeDocument/2006/relationships/notesSlide" Target="/ppt/notesSlides/notesSlide7.xml" Id="R128923792e2244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c8d173b16d4795" /><Relationship Type="http://schemas.openxmlformats.org/officeDocument/2006/relationships/notesSlide" Target="/ppt/notesSlides/notesSlide8.xml" Id="R2f5d3e06941944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fe9dd562ae4d26" /><Relationship Type="http://schemas.openxmlformats.org/officeDocument/2006/relationships/notesSlide" Target="/ppt/notesSlides/notesSlide9.xml" Id="R698dd2a5c2f54e7e" /></Relationships>
</file>

<file path=ppt/slides/slide1.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F11DDF49-0800-4382-8695-8F0A36D34AB1}"/>
              </a:ext>
            </a:extLst>
          </p:cNvPr>
          <p:cNvSpPr>
            <a:spLocks xmlns:a="http://schemas.openxmlformats.org/drawingml/2006/main" noGrp="1"/>
          </p:cNvSpPr>
          <p:nvPr/>
        </p:nvSpPr>
        <p:spPr>
          <a:xfrm xmlns:a="http://schemas.openxmlformats.org/drawingml/2006/main">
            <a:off x="609600" y="838200"/>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0" b="1">
                <a:solidFill>
                  <a:srgbClr val="FFFFFF"/>
                </a:solidFill>
                <a:latin typeface="Arial"/>
                <a:ea typeface="Arial"/>
                <a:cs typeface="Arial"/>
              </a:defRPr>
            </a:pPr>
            <a:r>
              <a:rPr sz="4400" b="1">
                <a:solidFill>
                  <a:srgbClr val="FFFFFF"/>
                </a:solidFill>
                <a:latin typeface="Arial"/>
                <a:ea typeface="Arial"/>
                <a:cs typeface="Arial"/>
              </a:rPr>
              <a:t>ProofGate: Public Plans, Private Results</a:t>
            </a:r>
          </a:p>
        </p:txBody>
      </p:sp>
      <p:sp>
        <p:nvSpPr>
          <p:cNvPr id="2" name="text-2">
            <a:extLst xmlns:a="http://schemas.openxmlformats.org/drawingml/2006/main">
              <a:ext uri="{FF2B5EF4-FFF2-40B4-BE49-F238E27FC236}">
                <a16:creationId xmlns:a16="http://schemas.microsoft.com/office/drawing/2014/main" id="{3A2D2521-5FC8-42AF-AB3D-2BA80AF398B1}"/>
              </a:ext>
            </a:extLst>
          </p:cNvPr>
          <p:cNvSpPr>
            <a:spLocks xmlns:a="http://schemas.openxmlformats.org/drawingml/2006/main" noGrp="1"/>
          </p:cNvSpPr>
          <p:nvPr/>
        </p:nvSpPr>
        <p:spPr>
          <a:xfrm xmlns:a="http://schemas.openxmlformats.org/drawingml/2006/main">
            <a:off x="609600" y="31146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FFFFFF"/>
                </a:solidFill>
                <a:latin typeface="Arial"/>
                <a:ea typeface="Arial"/>
                <a:cs typeface="Arial"/>
              </a:defRPr>
            </a:pPr>
            <a:r>
              <a:rPr sz="3000" b="0">
                <a:solidFill>
                  <a:srgbClr val="FFFFFF"/>
                </a:solidFill>
                <a:latin typeface="Arial"/>
                <a:ea typeface="Arial"/>
                <a:cs typeface="Arial"/>
              </a:rPr>
              <a:t>Prepare the right supplier negotiations.</a:t>
            </a:r>
          </a:p>
          <a:p xmlns:a="http://schemas.openxmlformats.org/drawingml/2006/main">
            <a:pPr algn="l">
              <a:defRPr sz="3000" b="0">
                <a:solidFill>
                  <a:srgbClr val="FFFFFF"/>
                </a:solidFill>
                <a:latin typeface="Arial"/>
                <a:ea typeface="Arial"/>
                <a:cs typeface="Arial"/>
              </a:defRPr>
            </a:pPr>
            <a:r>
              <a:rPr sz="3000" b="0">
                <a:solidFill>
                  <a:srgbClr val="FFFFFF"/>
                </a:solidFill>
                <a:latin typeface="Arial"/>
                <a:ea typeface="Arial"/>
                <a:cs typeface="Arial"/>
              </a:rPr>
              <a:t>Keep company facts and rules local.</a:t>
            </a:r>
          </a:p>
        </p:txBody>
      </p:sp>
      <p:sp>
        <p:nvSpPr>
          <p:cNvPr id="3" name="text-3">
            <a:extLst xmlns:a="http://schemas.openxmlformats.org/drawingml/2006/main">
              <a:ext uri="{FF2B5EF4-FFF2-40B4-BE49-F238E27FC236}">
                <a16:creationId xmlns:a16="http://schemas.microsoft.com/office/drawing/2014/main" id="{F700AFE5-CED8-46C3-A589-67293A32C51A}"/>
              </a:ext>
            </a:extLst>
          </p:cNvPr>
          <p:cNvSpPr>
            <a:spLocks xmlns:a="http://schemas.openxmlformats.org/drawingml/2006/main" noGrp="1"/>
          </p:cNvSpPr>
          <p:nvPr/>
        </p:nvSpPr>
        <p:spPr>
          <a:xfrm xmlns:a="http://schemas.openxmlformats.org/drawingml/2006/main">
            <a:off x="609600" y="57721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BDDD5"/>
                </a:solidFill>
                <a:latin typeface="Arial"/>
                <a:ea typeface="Arial"/>
                <a:cs typeface="Arial"/>
              </a:defRPr>
            </a:pPr>
            <a:r>
              <a:rPr sz="1800" b="0">
                <a:solidFill>
                  <a:srgbClr val="CBDDD5"/>
                </a:solidFill>
                <a:latin typeface="Arial"/>
                <a:ea typeface="Arial"/>
                <a:cs typeface="Arial"/>
              </a:rPr>
              <a:t>Blind Workbench · synthetic supplier contracts</a:t>
            </a:r>
          </a:p>
        </p:txBody>
      </p:sp>
    </p:spTree>
    <p:extLst>
      <p:ext uri="{BB962C8B-B14F-4D97-AF65-F5344CB8AC3E}">
        <p14:creationId xmlns:p14="http://schemas.microsoft.com/office/powerpoint/2010/main" val="2062351547"/>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text-4">
            <a:extLst xmlns:a="http://schemas.openxmlformats.org/drawingml/2006/main">
              <a:ext uri="{FF2B5EF4-FFF2-40B4-BE49-F238E27FC236}">
                <a16:creationId xmlns:a16="http://schemas.microsoft.com/office/drawing/2014/main" id="{6D4E77AE-F60D-44DD-93A5-01DF460EDBE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102D3C"/>
                </a:solidFill>
                <a:latin typeface="Arial"/>
                <a:ea typeface="Arial"/>
                <a:cs typeface="Arial"/>
              </a:defRPr>
            </a:pPr>
            <a:r>
              <a:rPr sz="3400" b="1">
                <a:solidFill>
                  <a:srgbClr val="102D3C"/>
                </a:solidFill>
                <a:latin typeface="Arial"/>
                <a:ea typeface="Arial"/>
                <a:cs typeface="Arial"/>
              </a:rPr>
              <a:t>Which suppliers should we negotiate with?</a:t>
            </a:r>
          </a:p>
        </p:txBody>
      </p:sp>
      <p:sp>
        <p:nvSpPr>
          <p:cNvPr id="2" name="text-5">
            <a:extLst xmlns:a="http://schemas.openxmlformats.org/drawingml/2006/main">
              <a:ext uri="{FF2B5EF4-FFF2-40B4-BE49-F238E27FC236}">
                <a16:creationId xmlns:a16="http://schemas.microsoft.com/office/drawing/2014/main" id="{6B95B78C-86E8-46F3-940C-EB550F2FA29F}"/>
              </a:ext>
            </a:extLst>
          </p:cNvPr>
          <p:cNvSpPr>
            <a:spLocks xmlns:a="http://schemas.openxmlformats.org/drawingml/2006/main" noGrp="1"/>
          </p:cNvSpPr>
          <p:nvPr/>
        </p:nvSpPr>
        <p:spPr>
          <a:xfrm xmlns:a="http://schemas.openxmlformats.org/drawingml/2006/main">
            <a:off x="609600" y="15716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D6B51"/>
                </a:solidFill>
                <a:latin typeface="Arial"/>
                <a:ea typeface="Arial"/>
                <a:cs typeface="Arial"/>
              </a:defRPr>
            </a:pPr>
            <a:r>
              <a:rPr sz="2400" b="1">
                <a:solidFill>
                  <a:srgbClr val="2D6B51"/>
                </a:solidFill>
                <a:latin typeface="Arial"/>
                <a:ea typeface="Arial"/>
                <a:cs typeface="Arial"/>
              </a:rPr>
              <a:t>The employee asks</a:t>
            </a:r>
          </a:p>
        </p:txBody>
      </p:sp>
      <p:sp>
        <p:nvSpPr>
          <p:cNvPr id="3" name="text-6">
            <a:extLst xmlns:a="http://schemas.openxmlformats.org/drawingml/2006/main">
              <a:ext uri="{FF2B5EF4-FFF2-40B4-BE49-F238E27FC236}">
                <a16:creationId xmlns:a16="http://schemas.microsoft.com/office/drawing/2014/main" id="{62336D31-4387-49C5-98CE-B62D2C7BFD40}"/>
              </a:ext>
            </a:extLst>
          </p:cNvPr>
          <p:cNvSpPr>
            <a:spLocks xmlns:a="http://schemas.openxmlformats.org/drawingml/2006/main" noGrp="1"/>
          </p:cNvSpPr>
          <p:nvPr/>
        </p:nvSpPr>
        <p:spPr>
          <a:xfrm xmlns:a="http://schemas.openxmlformats.org/drawingml/2006/main">
            <a:off x="609600" y="2247900"/>
            <a:ext cx="52197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2D3C"/>
                </a:solidFill>
                <a:latin typeface="Arial"/>
                <a:ea typeface="Arial"/>
                <a:cs typeface="Arial"/>
              </a:defRPr>
            </a:pPr>
            <a:r>
              <a:rPr sz="2700" b="1">
                <a:solidFill>
                  <a:srgbClr val="102D3C"/>
                </a:solidFill>
                <a:latin typeface="Arial"/>
                <a:ea typeface="Arial"/>
                <a:cs typeface="Arial"/>
              </a:rPr>
              <a:t>Within the next 60 days,</a:t>
            </a:r>
          </a:p>
          <a:p xmlns:a="http://schemas.openxmlformats.org/drawingml/2006/main">
            <a:pPr algn="l">
              <a:defRPr sz="2700" b="1">
                <a:solidFill>
                  <a:srgbClr val="102D3C"/>
                </a:solidFill>
                <a:latin typeface="Arial"/>
                <a:ea typeface="Arial"/>
                <a:cs typeface="Arial"/>
              </a:defRPr>
            </a:pPr>
            <a:r>
              <a:rPr sz="2700" b="1">
                <a:solidFill>
                  <a:srgbClr val="102D3C"/>
                </a:solidFill>
                <a:latin typeface="Arial"/>
                <a:ea typeface="Arial"/>
                <a:cs typeface="Arial"/>
              </a:rPr>
              <a:t>prepare at most two renewals,</a:t>
            </a:r>
          </a:p>
          <a:p xmlns:a="http://schemas.openxmlformats.org/drawingml/2006/main">
            <a:pPr algn="l">
              <a:defRPr sz="2700" b="1">
                <a:solidFill>
                  <a:srgbClr val="102D3C"/>
                </a:solidFill>
                <a:latin typeface="Arial"/>
                <a:ea typeface="Arial"/>
                <a:cs typeface="Arial"/>
              </a:defRPr>
            </a:pPr>
            <a:r>
              <a:rPr sz="2700" b="1">
                <a:solidFill>
                  <a:srgbClr val="102D3C"/>
                </a:solidFill>
                <a:latin typeface="Arial"/>
                <a:ea typeface="Arial"/>
                <a:cs typeface="Arial"/>
              </a:rPr>
              <a:t>earliest renewals first.</a:t>
            </a:r>
          </a:p>
        </p:txBody>
      </p:sp>
      <p:sp>
        <p:nvSpPr>
          <p:cNvPr id="4" name="text-7">
            <a:extLst xmlns:a="http://schemas.openxmlformats.org/drawingml/2006/main">
              <a:ext uri="{FF2B5EF4-FFF2-40B4-BE49-F238E27FC236}">
                <a16:creationId xmlns:a16="http://schemas.microsoft.com/office/drawing/2014/main" id="{CE59F3C6-1E5C-40DA-A5A5-AAD4E5E74795}"/>
              </a:ext>
            </a:extLst>
          </p:cNvPr>
          <p:cNvSpPr>
            <a:spLocks xmlns:a="http://schemas.openxmlformats.org/drawingml/2006/main" noGrp="1"/>
          </p:cNvSpPr>
          <p:nvPr/>
        </p:nvSpPr>
        <p:spPr>
          <a:xfrm xmlns:a="http://schemas.openxmlformats.org/drawingml/2006/main">
            <a:off x="609600" y="4581525"/>
            <a:ext cx="5219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The result should tell me who to contact</a:t>
            </a:r>
          </a:p>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and the price ceiling to negotiate.</a:t>
            </a:r>
          </a:p>
        </p:txBody>
      </p:sp>
      <p:sp>
        <p:nvSpPr>
          <p:cNvPr id="5" name="text-8">
            <a:extLst xmlns:a="http://schemas.openxmlformats.org/drawingml/2006/main">
              <a:ext uri="{FF2B5EF4-FFF2-40B4-BE49-F238E27FC236}">
                <a16:creationId xmlns:a16="http://schemas.microsoft.com/office/drawing/2014/main" id="{49500EB3-0CE9-418A-B633-381EB16041D8}"/>
              </a:ext>
            </a:extLst>
          </p:cNvPr>
          <p:cNvSpPr>
            <a:spLocks xmlns:a="http://schemas.openxmlformats.org/drawingml/2006/main" noGrp="1"/>
          </p:cNvSpPr>
          <p:nvPr/>
        </p:nvSpPr>
        <p:spPr>
          <a:xfrm xmlns:a="http://schemas.openxmlformats.org/drawingml/2006/main">
            <a:off x="6591300" y="1571625"/>
            <a:ext cx="4991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D6B51"/>
                </a:solidFill>
                <a:latin typeface="Arial"/>
                <a:ea typeface="Arial"/>
                <a:cs typeface="Arial"/>
              </a:defRPr>
            </a:pPr>
            <a:r>
              <a:rPr sz="2400" b="1">
                <a:solidFill>
                  <a:srgbClr val="2D6B51"/>
                </a:solidFill>
                <a:latin typeface="Arial"/>
                <a:ea typeface="Arial"/>
                <a:cs typeface="Arial"/>
              </a:rPr>
              <a:t>The company knows</a:t>
            </a:r>
          </a:p>
        </p:txBody>
      </p:sp>
      <p:sp>
        <p:nvSpPr>
          <p:cNvPr id="6" name="text-9">
            <a:extLst xmlns:a="http://schemas.openxmlformats.org/drawingml/2006/main">
              <a:ext uri="{FF2B5EF4-FFF2-40B4-BE49-F238E27FC236}">
                <a16:creationId xmlns:a16="http://schemas.microsoft.com/office/drawing/2014/main" id="{F2613990-42A9-41B8-AD8B-B8ADEB328959}"/>
              </a:ext>
            </a:extLst>
          </p:cNvPr>
          <p:cNvSpPr>
            <a:spLocks xmlns:a="http://schemas.openxmlformats.org/drawingml/2006/main" noGrp="1"/>
          </p:cNvSpPr>
          <p:nvPr/>
        </p:nvSpPr>
        <p:spPr>
          <a:xfrm xmlns:a="http://schemas.openxmlformats.org/drawingml/2006/main">
            <a:off x="6591300" y="2247900"/>
            <a:ext cx="49911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02D3C"/>
                </a:solidFill>
                <a:latin typeface="Arial"/>
                <a:ea typeface="Arial"/>
                <a:cs typeface="Arial"/>
              </a:defRPr>
            </a:pPr>
            <a:r>
              <a:rPr sz="2400" b="0">
                <a:solidFill>
                  <a:srgbClr val="102D3C"/>
                </a:solidFill>
                <a:latin typeface="Arial"/>
                <a:ea typeface="Arial"/>
                <a:cs typeface="Arial"/>
              </a:rPr>
              <a:t>Private supplier quotes and prices</a:t>
            </a:r>
          </a:p>
          <a:p xmlns:a="http://schemas.openxmlformats.org/drawingml/2006/main">
            <a:pPr algn="l">
              <a:defRPr sz="2400" b="0">
                <a:solidFill>
                  <a:srgbClr val="102D3C"/>
                </a:solidFill>
                <a:latin typeface="Arial"/>
                <a:ea typeface="Arial"/>
                <a:cs typeface="Arial"/>
              </a:defRPr>
            </a:pPr>
            <a:r>
              <a:rPr sz="2400" b="0">
                <a:solidFill>
                  <a:srgbClr val="102D3C"/>
                </a:solidFill>
                <a:latin typeface="Arial"/>
                <a:ea typeface="Arial"/>
                <a:cs typeface="Arial"/>
              </a:rPr>
              <a:t>Private price and service rules</a:t>
            </a:r>
          </a:p>
          <a:p xmlns:a="http://schemas.openxmlformats.org/drawingml/2006/main">
            <a:pPr algn="l">
              <a:defRPr sz="2400" b="0">
                <a:solidFill>
                  <a:srgbClr val="102D3C"/>
                </a:solidFill>
                <a:latin typeface="Arial"/>
                <a:ea typeface="Arial"/>
                <a:cs typeface="Arial"/>
              </a:defRPr>
            </a:pPr>
            <a:r>
              <a:rPr sz="2400" b="0">
                <a:solidFill>
                  <a:srgbClr val="102D3C"/>
                </a:solidFill>
                <a:latin typeface="Arial"/>
                <a:ea typeface="Arial"/>
                <a:cs typeface="Arial"/>
              </a:rPr>
              <a:t>Which renewals meet those rules</a:t>
            </a:r>
          </a:p>
        </p:txBody>
      </p:sp>
      <p:sp>
        <p:nvSpPr>
          <p:cNvPr id="7" name="text-10">
            <a:extLst xmlns:a="http://schemas.openxmlformats.org/drawingml/2006/main">
              <a:ext uri="{FF2B5EF4-FFF2-40B4-BE49-F238E27FC236}">
                <a16:creationId xmlns:a16="http://schemas.microsoft.com/office/drawing/2014/main" id="{26C5B378-BB81-40E3-9013-D149A2A382B4}"/>
              </a:ext>
            </a:extLst>
          </p:cNvPr>
          <p:cNvSpPr>
            <a:spLocks xmlns:a="http://schemas.openxmlformats.org/drawingml/2006/main" noGrp="1"/>
          </p:cNvSpPr>
          <p:nvPr/>
        </p:nvSpPr>
        <p:spPr>
          <a:xfrm xmlns:a="http://schemas.openxmlformats.org/drawingml/2006/main">
            <a:off x="6591300" y="4581525"/>
            <a:ext cx="49911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Those facts determine the selection</a:t>
            </a:r>
          </a:p>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and the useful brief, inside the host.</a:t>
            </a:r>
          </a:p>
        </p:txBody>
      </p:sp>
      <p:sp>
        <p:nvSpPr>
          <p:cNvPr id="8" name="text-11">
            <a:extLst xmlns:a="http://schemas.openxmlformats.org/drawingml/2006/main">
              <a:ext uri="{FF2B5EF4-FFF2-40B4-BE49-F238E27FC236}">
                <a16:creationId xmlns:a16="http://schemas.microsoft.com/office/drawing/2014/main" id="{0A52AC9E-08A4-497E-AE76-C457835BA46E}"/>
              </a:ext>
            </a:extLst>
          </p:cNvPr>
          <p:cNvSpPr>
            <a:spLocks xmlns:a="http://schemas.openxmlformats.org/drawingml/2006/main" noGrp="1"/>
          </p:cNvSpPr>
          <p:nvPr/>
        </p:nvSpPr>
        <p:spPr>
          <a:xfrm xmlns:a="http://schemas.openxmlformats.org/drawingml/2006/main">
            <a:off x="609600" y="6096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0">
                <a:solidFill>
                  <a:srgbClr val="465960"/>
                </a:solidFill>
                <a:latin typeface="Arial"/>
                <a:ea typeface="Arial"/>
                <a:cs typeface="Arial"/>
              </a:defRPr>
            </a:pPr>
            <a:r>
              <a:rPr sz="1700" b="0">
                <a:solidFill>
                  <a:srgbClr val="465960"/>
                </a:solidFill>
                <a:latin typeface="Arial"/>
                <a:ea typeface="Arial"/>
                <a:cs typeface="Arial"/>
              </a:rPr>
              <a:t>Public intent is disclosed. The demonstrated records and rule bodies stay local. All records are synthetic.</a:t>
            </a:r>
          </a:p>
        </p:txBody>
      </p:sp>
    </p:spTree>
    <p:extLst>
      <p:ext uri="{BB962C8B-B14F-4D97-AF65-F5344CB8AC3E}">
        <p14:creationId xmlns:p14="http://schemas.microsoft.com/office/powerpoint/2010/main" val="532628508"/>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text-12">
            <a:extLst xmlns:a="http://schemas.openxmlformats.org/drawingml/2006/main">
              <a:ext uri="{FF2B5EF4-FFF2-40B4-BE49-F238E27FC236}">
                <a16:creationId xmlns:a16="http://schemas.microsoft.com/office/drawing/2014/main" id="{AD3B4A4D-C22A-49D1-8B84-8D29EE936567}"/>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102D3C"/>
                </a:solidFill>
                <a:latin typeface="Arial"/>
                <a:ea typeface="Arial"/>
                <a:cs typeface="Arial"/>
              </a:defRPr>
            </a:pPr>
            <a:r>
              <a:rPr sz="3400" b="1">
                <a:solidFill>
                  <a:srgbClr val="102D3C"/>
                </a:solidFill>
                <a:latin typeface="Arial"/>
                <a:ea typeface="Arial"/>
                <a:cs typeface="Arial"/>
              </a:rPr>
              <a:t>Actual AI composes an approved method</a:t>
            </a:r>
          </a:p>
        </p:txBody>
      </p:sp>
      <p:sp>
        <p:nvSpPr>
          <p:cNvPr id="2" name="text-13">
            <a:extLst xmlns:a="http://schemas.openxmlformats.org/drawingml/2006/main">
              <a:ext uri="{FF2B5EF4-FFF2-40B4-BE49-F238E27FC236}">
                <a16:creationId xmlns:a16="http://schemas.microsoft.com/office/drawing/2014/main" id="{B31EE726-2EF9-473D-A777-119ED7F7FB17}"/>
              </a:ext>
            </a:extLst>
          </p:cNvPr>
          <p:cNvSpPr>
            <a:spLocks xmlns:a="http://schemas.openxmlformats.org/drawingml/2006/main" noGrp="1"/>
          </p:cNvSpPr>
          <p:nvPr/>
        </p:nvSpPr>
        <p:spPr>
          <a:xfrm xmlns:a="http://schemas.openxmlformats.org/drawingml/2006/main">
            <a:off x="609600" y="15716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1">
                <a:solidFill>
                  <a:srgbClr val="2D6B51"/>
                </a:solidFill>
                <a:latin typeface="Arial"/>
                <a:ea typeface="Arial"/>
                <a:cs typeface="Arial"/>
              </a:defRPr>
            </a:pPr>
            <a:r>
              <a:rPr sz="2300" b="1">
                <a:solidFill>
                  <a:srgbClr val="2D6B51"/>
                </a:solidFill>
                <a:latin typeface="Arial"/>
                <a:ea typeface="Arial"/>
                <a:cs typeface="Arial"/>
              </a:rPr>
              <a:t>Public request + capabilities</a:t>
            </a:r>
          </a:p>
        </p:txBody>
      </p:sp>
      <p:sp>
        <p:nvSpPr>
          <p:cNvPr id="3" name="text-14">
            <a:extLst xmlns:a="http://schemas.openxmlformats.org/drawingml/2006/main">
              <a:ext uri="{FF2B5EF4-FFF2-40B4-BE49-F238E27FC236}">
                <a16:creationId xmlns:a16="http://schemas.microsoft.com/office/drawing/2014/main" id="{71A8CFF9-1091-4F5F-80F1-0464394DE9DD}"/>
              </a:ext>
            </a:extLst>
          </p:cNvPr>
          <p:cNvSpPr>
            <a:spLocks xmlns:a="http://schemas.openxmlformats.org/drawingml/2006/main" noGrp="1"/>
          </p:cNvSpPr>
          <p:nvPr/>
        </p:nvSpPr>
        <p:spPr>
          <a:xfrm xmlns:a="http://schemas.openxmlformats.org/drawingml/2006/main">
            <a:off x="609600" y="2514600"/>
            <a:ext cx="47434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2D3C"/>
                </a:solidFill>
                <a:latin typeface="Arial"/>
                <a:ea typeface="Arial"/>
                <a:cs typeface="Arial"/>
              </a:defRPr>
            </a:pPr>
            <a:r>
              <a:rPr sz="2700" b="1">
                <a:solidFill>
                  <a:srgbClr val="102D3C"/>
                </a:solidFill>
                <a:latin typeface="Arial"/>
                <a:ea typeface="Arial"/>
                <a:cs typeface="Arial"/>
              </a:rPr>
              <a:t>AI chose</a:t>
            </a:r>
          </a:p>
          <a:p xmlns:a="http://schemas.openxmlformats.org/drawingml/2006/main">
            <a:pPr algn="l">
              <a:defRPr sz="2700" b="1">
                <a:solidFill>
                  <a:srgbClr val="102D3C"/>
                </a:solidFill>
                <a:latin typeface="Arial"/>
                <a:ea typeface="Arial"/>
                <a:cs typeface="Arial"/>
              </a:defRPr>
            </a:pPr>
            <a:r>
              <a:rPr sz="2700" b="1">
                <a:solidFill>
                  <a:srgbClr val="102D3C"/>
                </a:solidFill>
                <a:latin typeface="Arial"/>
                <a:ea typeface="Arial"/>
                <a:cs typeface="Arial"/>
              </a:rPr>
              <a:t>60-day window</a:t>
            </a:r>
          </a:p>
          <a:p xmlns:a="http://schemas.openxmlformats.org/drawingml/2006/main">
            <a:pPr algn="l">
              <a:defRPr sz="2700" b="1">
                <a:solidFill>
                  <a:srgbClr val="102D3C"/>
                </a:solidFill>
                <a:latin typeface="Arial"/>
                <a:ea typeface="Arial"/>
                <a:cs typeface="Arial"/>
              </a:defRPr>
            </a:pPr>
            <a:r>
              <a:rPr sz="2700" b="1">
                <a:solidFill>
                  <a:srgbClr val="102D3C"/>
                </a:solidFill>
                <a:latin typeface="Arial"/>
                <a:ea typeface="Arial"/>
                <a:cs typeface="Arial"/>
              </a:rPr>
              <a:t>Earliest renewal first</a:t>
            </a:r>
          </a:p>
          <a:p xmlns:a="http://schemas.openxmlformats.org/drawingml/2006/main">
            <a:pPr algn="l">
              <a:defRPr sz="2700" b="1">
                <a:solidFill>
                  <a:srgbClr val="102D3C"/>
                </a:solidFill>
                <a:latin typeface="Arial"/>
                <a:ea typeface="Arial"/>
                <a:cs typeface="Arial"/>
              </a:defRPr>
            </a:pPr>
            <a:r>
              <a:rPr sz="2700" b="1">
                <a:solidFill>
                  <a:srgbClr val="102D3C"/>
                </a:solidFill>
                <a:latin typeface="Arial"/>
                <a:ea typeface="Arial"/>
                <a:cs typeface="Arial"/>
              </a:rPr>
              <a:t>At most 2 renewals</a:t>
            </a:r>
          </a:p>
        </p:txBody>
      </p:sp>
      <p:sp>
        <p:nvSpPr>
          <p:cNvPr id="4" name="text-15">
            <a:extLst xmlns:a="http://schemas.openxmlformats.org/drawingml/2006/main">
              <a:ext uri="{FF2B5EF4-FFF2-40B4-BE49-F238E27FC236}">
                <a16:creationId xmlns:a16="http://schemas.microsoft.com/office/drawing/2014/main" id="{6450ACF1-92C2-4366-8D94-DBBE8EA30ADC}"/>
              </a:ext>
            </a:extLst>
          </p:cNvPr>
          <p:cNvSpPr>
            <a:spLocks xmlns:a="http://schemas.openxmlformats.org/drawingml/2006/main" noGrp="1"/>
          </p:cNvSpPr>
          <p:nvPr/>
        </p:nvSpPr>
        <p:spPr>
          <a:xfrm xmlns:a="http://schemas.openxmlformats.org/drawingml/2006/main">
            <a:off x="6477000" y="1571625"/>
            <a:ext cx="5105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D6B51"/>
                </a:solidFill>
                <a:latin typeface="Arial"/>
                <a:ea typeface="Arial"/>
                <a:cs typeface="Arial"/>
              </a:defRPr>
            </a:pPr>
            <a:r>
              <a:rPr sz="2400" b="1">
                <a:solidFill>
                  <a:srgbClr val="2D6B51"/>
                </a:solidFill>
                <a:latin typeface="Arial"/>
                <a:ea typeface="Arial"/>
                <a:cs typeface="Arial"/>
              </a:rPr>
              <a:t>Admitted operations</a:t>
            </a:r>
          </a:p>
        </p:txBody>
      </p:sp>
      <p:sp>
        <p:nvSpPr>
          <p:cNvPr id="5" name="text-16">
            <a:extLst xmlns:a="http://schemas.openxmlformats.org/drawingml/2006/main">
              <a:ext uri="{FF2B5EF4-FFF2-40B4-BE49-F238E27FC236}">
                <a16:creationId xmlns:a16="http://schemas.microsoft.com/office/drawing/2014/main" id="{DFCA1302-2D5D-42FD-8114-28A5F53C8076}"/>
              </a:ext>
            </a:extLst>
          </p:cNvPr>
          <p:cNvSpPr>
            <a:spLocks xmlns:a="http://schemas.openxmlformats.org/drawingml/2006/main" noGrp="1"/>
          </p:cNvSpPr>
          <p:nvPr/>
        </p:nvSpPr>
        <p:spPr>
          <a:xfrm xmlns:a="http://schemas.openxmlformats.org/drawingml/2006/main">
            <a:off x="6477000" y="2409825"/>
            <a:ext cx="51054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1. Select renewals within 60 days</a:t>
            </a:r>
          </a:p>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2. Apply private price ceiling</a:t>
            </a:r>
          </a:p>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3. Rank by renewal date</a:t>
            </a:r>
          </a:p>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4. Keep 2 renewals</a:t>
            </a:r>
          </a:p>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5. Render the negotiation brief</a:t>
            </a:r>
          </a:p>
        </p:txBody>
      </p:sp>
      <p:sp>
        <p:nvSpPr>
          <p:cNvPr id="6" name="text-17">
            <a:extLst xmlns:a="http://schemas.openxmlformats.org/drawingml/2006/main">
              <a:ext uri="{FF2B5EF4-FFF2-40B4-BE49-F238E27FC236}">
                <a16:creationId xmlns:a16="http://schemas.microsoft.com/office/drawing/2014/main" id="{44049E03-FD09-49A2-A0A5-89D3053796AE}"/>
              </a:ext>
            </a:extLst>
          </p:cNvPr>
          <p:cNvSpPr>
            <a:spLocks xmlns:a="http://schemas.openxmlformats.org/drawingml/2006/main" noGrp="1"/>
          </p:cNvSpPr>
          <p:nvPr/>
        </p:nvSpPr>
        <p:spPr>
          <a:xfrm xmlns:a="http://schemas.openxmlformats.org/drawingml/2006/main">
            <a:off x="609600" y="6019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65960"/>
                </a:solidFill>
                <a:latin typeface="Arial"/>
                <a:ea typeface="Arial"/>
                <a:cs typeface="Arial"/>
              </a:defRPr>
            </a:pPr>
            <a:r>
              <a:rPr sz="1800" b="0">
                <a:solidFill>
                  <a:srgbClr val="465960"/>
                </a:solidFill>
                <a:latin typeface="Arial"/>
                <a:ea typeface="Arial"/>
                <a:cs typeface="Arial"/>
              </a:rPr>
              <a:t>The host checks the whole method before private access. No arbitrary code, SQL or network operations.</a:t>
            </a:r>
          </a:p>
        </p:txBody>
      </p:sp>
    </p:spTree>
    <p:extLst>
      <p:ext uri="{BB962C8B-B14F-4D97-AF65-F5344CB8AC3E}">
        <p14:creationId xmlns:p14="http://schemas.microsoft.com/office/powerpoint/2010/main" val="1414575457"/>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text-18">
            <a:extLst xmlns:a="http://schemas.openxmlformats.org/drawingml/2006/main">
              <a:ext uri="{FF2B5EF4-FFF2-40B4-BE49-F238E27FC236}">
                <a16:creationId xmlns:a16="http://schemas.microsoft.com/office/drawing/2014/main" id="{49437FEE-6A70-4223-AA4B-10E75CFFEE0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102D3C"/>
                </a:solidFill>
                <a:latin typeface="Arial"/>
                <a:ea typeface="Arial"/>
                <a:cs typeface="Arial"/>
              </a:defRPr>
            </a:pPr>
            <a:r>
              <a:rPr sz="3400" b="1">
                <a:solidFill>
                  <a:srgbClr val="102D3C"/>
                </a:solidFill>
                <a:latin typeface="Arial"/>
                <a:ea typeface="Arial"/>
                <a:cs typeface="Arial"/>
              </a:rPr>
              <a:t>Private changes produce a different useful brief</a:t>
            </a:r>
          </a:p>
        </p:txBody>
      </p:sp>
      <p:sp>
        <p:nvSpPr>
          <p:cNvPr id="2" name="text-19">
            <a:extLst xmlns:a="http://schemas.openxmlformats.org/drawingml/2006/main">
              <a:ext uri="{FF2B5EF4-FFF2-40B4-BE49-F238E27FC236}">
                <a16:creationId xmlns:a16="http://schemas.microsoft.com/office/drawing/2014/main" id="{22FFBF01-D7F3-4A71-B3F5-28E7820E1BF8}"/>
              </a:ext>
            </a:extLst>
          </p:cNvPr>
          <p:cNvSpPr>
            <a:spLocks xmlns:a="http://schemas.openxmlformats.org/drawingml/2006/main" noGrp="1"/>
          </p:cNvSpPr>
          <p:nvPr/>
        </p:nvSpPr>
        <p:spPr>
          <a:xfrm xmlns:a="http://schemas.openxmlformats.org/drawingml/2006/main">
            <a:off x="609600" y="1590675"/>
            <a:ext cx="487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00" b="1">
                <a:solidFill>
                  <a:srgbClr val="465960"/>
                </a:solidFill>
                <a:latin typeface="Arial"/>
                <a:ea typeface="Arial"/>
                <a:cs typeface="Arial"/>
              </a:defRPr>
            </a:pPr>
            <a:r>
              <a:rPr sz="2300" b="1">
                <a:solidFill>
                  <a:srgbClr val="465960"/>
                </a:solidFill>
                <a:latin typeface="Arial"/>
                <a:ea typeface="Arial"/>
                <a:cs typeface="Arial"/>
              </a:rPr>
              <a:t>Before the private change</a:t>
            </a:r>
          </a:p>
        </p:txBody>
      </p:sp>
      <p:sp>
        <p:nvSpPr>
          <p:cNvPr id="3" name="text-20">
            <a:extLst xmlns:a="http://schemas.openxmlformats.org/drawingml/2006/main">
              <a:ext uri="{FF2B5EF4-FFF2-40B4-BE49-F238E27FC236}">
                <a16:creationId xmlns:a16="http://schemas.microsoft.com/office/drawing/2014/main" id="{3DE25B41-FAE6-4395-B120-146F2DEE5662}"/>
              </a:ext>
            </a:extLst>
          </p:cNvPr>
          <p:cNvSpPr>
            <a:spLocks xmlns:a="http://schemas.openxmlformats.org/drawingml/2006/main" noGrp="1"/>
          </p:cNvSpPr>
          <p:nvPr/>
        </p:nvSpPr>
        <p:spPr>
          <a:xfrm xmlns:a="http://schemas.openxmlformats.org/drawingml/2006/main">
            <a:off x="609600" y="2162175"/>
            <a:ext cx="4876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00" b="1">
                <a:solidFill>
                  <a:srgbClr val="102D3C"/>
                </a:solidFill>
                <a:latin typeface="Arial"/>
                <a:ea typeface="Arial"/>
                <a:cs typeface="Arial"/>
              </a:defRPr>
            </a:pPr>
            <a:r>
              <a:rPr sz="3200" b="1">
                <a:solidFill>
                  <a:srgbClr val="102D3C"/>
                </a:solidFill>
                <a:latin typeface="Arial"/>
                <a:ea typeface="Arial"/>
                <a:cs typeface="Arial"/>
              </a:rPr>
              <a:t>Near + Middle</a:t>
            </a:r>
          </a:p>
        </p:txBody>
      </p:sp>
      <p:sp>
        <p:nvSpPr>
          <p:cNvPr id="4" name="text-21">
            <a:extLst xmlns:a="http://schemas.openxmlformats.org/drawingml/2006/main">
              <a:ext uri="{FF2B5EF4-FFF2-40B4-BE49-F238E27FC236}">
                <a16:creationId xmlns:a16="http://schemas.microsoft.com/office/drawing/2014/main" id="{10227E02-6794-4DAD-8215-89114FCD72E7}"/>
              </a:ext>
            </a:extLst>
          </p:cNvPr>
          <p:cNvSpPr>
            <a:spLocks xmlns:a="http://schemas.openxmlformats.org/drawingml/2006/main" noGrp="1"/>
          </p:cNvSpPr>
          <p:nvPr/>
        </p:nvSpPr>
        <p:spPr>
          <a:xfrm xmlns:a="http://schemas.openxmlformats.org/drawingml/2006/main">
            <a:off x="609600" y="3181350"/>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1">
                <a:solidFill>
                  <a:srgbClr val="2D6B51"/>
                </a:solidFill>
                <a:latin typeface="Arial"/>
                <a:ea typeface="Arial"/>
                <a:cs typeface="Arial"/>
              </a:defRPr>
            </a:pPr>
            <a:r>
              <a:rPr sz="2200" b="1">
                <a:solidFill>
                  <a:srgbClr val="2D6B51"/>
                </a:solidFill>
                <a:latin typeface="Arial"/>
                <a:ea typeface="Arial"/>
                <a:cs typeface="Arial"/>
              </a:rPr>
              <a:t>After quotes and the price rule change</a:t>
            </a:r>
          </a:p>
        </p:txBody>
      </p:sp>
      <p:sp>
        <p:nvSpPr>
          <p:cNvPr id="5" name="text-22">
            <a:extLst xmlns:a="http://schemas.openxmlformats.org/drawingml/2006/main">
              <a:ext uri="{FF2B5EF4-FFF2-40B4-BE49-F238E27FC236}">
                <a16:creationId xmlns:a16="http://schemas.microsoft.com/office/drawing/2014/main" id="{1C4A6338-026F-43AF-A7B6-15E4AA4B6526}"/>
              </a:ext>
            </a:extLst>
          </p:cNvPr>
          <p:cNvSpPr>
            <a:spLocks xmlns:a="http://schemas.openxmlformats.org/drawingml/2006/main" noGrp="1"/>
          </p:cNvSpPr>
          <p:nvPr/>
        </p:nvSpPr>
        <p:spPr>
          <a:xfrm xmlns:a="http://schemas.openxmlformats.org/drawingml/2006/main">
            <a:off x="609600" y="3829050"/>
            <a:ext cx="519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2D6B51"/>
                </a:solidFill>
                <a:latin typeface="Arial"/>
                <a:ea typeface="Arial"/>
                <a:cs typeface="Arial"/>
              </a:defRPr>
            </a:pPr>
            <a:r>
              <a:rPr sz="3400" b="1">
                <a:solidFill>
                  <a:srgbClr val="2D6B51"/>
                </a:solidFill>
                <a:latin typeface="Arial"/>
                <a:ea typeface="Arial"/>
                <a:cs typeface="Arial"/>
              </a:rPr>
              <a:t>Middle + Large</a:t>
            </a:r>
          </a:p>
        </p:txBody>
      </p:sp>
      <p:sp>
        <p:nvSpPr>
          <p:cNvPr id="6" name="text-23">
            <a:extLst xmlns:a="http://schemas.openxmlformats.org/drawingml/2006/main">
              <a:ext uri="{FF2B5EF4-FFF2-40B4-BE49-F238E27FC236}">
                <a16:creationId xmlns:a16="http://schemas.microsoft.com/office/drawing/2014/main" id="{F6DEE47C-96FA-4C4F-9E70-4CFE61E1B38F}"/>
              </a:ext>
            </a:extLst>
          </p:cNvPr>
          <p:cNvSpPr>
            <a:spLocks xmlns:a="http://schemas.openxmlformats.org/drawingml/2006/main" noGrp="1"/>
          </p:cNvSpPr>
          <p:nvPr/>
        </p:nvSpPr>
        <p:spPr>
          <a:xfrm xmlns:a="http://schemas.openxmlformats.org/drawingml/2006/main">
            <a:off x="609600" y="4810125"/>
            <a:ext cx="5391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Negotiation ceilings</a:t>
            </a:r>
          </a:p>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Middle: $2,080 · Large: $5,200</a:t>
            </a:r>
          </a:p>
        </p:txBody>
      </p:sp>
      <p:sp>
        <p:nvSpPr>
          <p:cNvPr id="7" name="text-24">
            <a:extLst xmlns:a="http://schemas.openxmlformats.org/drawingml/2006/main">
              <a:ext uri="{FF2B5EF4-FFF2-40B4-BE49-F238E27FC236}">
                <a16:creationId xmlns:a16="http://schemas.microsoft.com/office/drawing/2014/main" id="{2785CF7A-5D9A-4960-AB61-BE098877FDE1}"/>
              </a:ext>
            </a:extLst>
          </p:cNvPr>
          <p:cNvSpPr>
            <a:spLocks xmlns:a="http://schemas.openxmlformats.org/drawingml/2006/main" noGrp="1"/>
          </p:cNvSpPr>
          <p:nvPr/>
        </p:nvSpPr>
        <p:spPr>
          <a:xfrm xmlns:a="http://schemas.openxmlformats.org/drawingml/2006/main">
            <a:off x="609600" y="60483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0">
                <a:solidFill>
                  <a:srgbClr val="465960"/>
                </a:solidFill>
                <a:latin typeface="Arial"/>
                <a:ea typeface="Arial"/>
                <a:cs typeface="Arial"/>
              </a:defRPr>
            </a:pPr>
            <a:r>
              <a:rPr sz="1700" b="0">
                <a:solidFill>
                  <a:srgbClr val="465960"/>
                </a:solidFill>
                <a:latin typeface="Arial"/>
                <a:ea typeface="Arial"/>
                <a:cs typeface="Arial"/>
              </a:rPr>
              <a:t>$130 → $1,060 potential annual opportunity · synthetic USD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49f58a3b7ed4f67"/>
          <a:stretch xmlns:a="http://schemas.openxmlformats.org/drawingml/2006/main"/>
        </p:blipFill>
        <p:spPr>
          <a:xfrm xmlns:a="http://schemas.openxmlformats.org/drawingml/2006/main">
            <a:off x="7046785" y="1619250"/>
            <a:ext cx="3927729" cy="3219450"/>
          </a:xfrm>
          <a:prstGeom xmlns:a="http://schemas.openxmlformats.org/drawingml/2006/main" prst="rect">
            <a:avLst/>
          </a:prstGeom>
        </p:spPr>
      </p:pic>
      <p:sp>
        <p:nvSpPr>
          <p:cNvPr id="9" name="text-25">
            <a:extLst xmlns:a="http://schemas.openxmlformats.org/drawingml/2006/main">
              <a:ext uri="{FF2B5EF4-FFF2-40B4-BE49-F238E27FC236}">
                <a16:creationId xmlns:a16="http://schemas.microsoft.com/office/drawing/2014/main" id="{BBE0B5CF-A7A9-4C8A-A1B8-ED0A5FFFF195}"/>
              </a:ext>
            </a:extLst>
          </p:cNvPr>
          <p:cNvSpPr>
            <a:spLocks xmlns:a="http://schemas.openxmlformats.org/drawingml/2006/main" noGrp="1"/>
          </p:cNvSpPr>
          <p:nvPr/>
        </p:nvSpPr>
        <p:spPr>
          <a:xfrm xmlns:a="http://schemas.openxmlformats.org/drawingml/2006/main">
            <a:off x="6438900" y="5133975"/>
            <a:ext cx="514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D6B51"/>
                </a:solidFill>
                <a:latin typeface="Arial"/>
                <a:ea typeface="Arial"/>
                <a:cs typeface="Arial"/>
              </a:defRPr>
            </a:pPr>
            <a:r>
              <a:rPr sz="2400" b="1">
                <a:solidFill>
                  <a:srgbClr val="2D6B51"/>
                </a:solidFill>
                <a:latin typeface="Arial"/>
                <a:ea typeface="Arial"/>
                <a:cs typeface="Arial"/>
              </a:rPr>
              <a:t>0 new provider attempts during local rebind</a:t>
            </a:r>
          </a:p>
        </p:txBody>
      </p:sp>
    </p:spTree>
    <p:extLst>
      <p:ext uri="{BB962C8B-B14F-4D97-AF65-F5344CB8AC3E}">
        <p14:creationId xmlns:p14="http://schemas.microsoft.com/office/powerpoint/2010/main" val="415543206"/>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6" name="text-26">
            <a:extLst xmlns:a="http://schemas.openxmlformats.org/drawingml/2006/main">
              <a:ext uri="{FF2B5EF4-FFF2-40B4-BE49-F238E27FC236}">
                <a16:creationId xmlns:a16="http://schemas.microsoft.com/office/drawing/2014/main" id="{D4D39F4B-04D1-4996-97B0-0082AE3B166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102D3C"/>
                </a:solidFill>
                <a:latin typeface="Arial"/>
                <a:ea typeface="Arial"/>
                <a:cs typeface="Arial"/>
              </a:defRPr>
            </a:pPr>
            <a:r>
              <a:rPr sz="3400" b="1">
                <a:solidFill>
                  <a:srgbClr val="102D3C"/>
                </a:solidFill>
                <a:latin typeface="Arial"/>
                <a:ea typeface="Arial"/>
                <a:cs typeface="Arial"/>
              </a:rPr>
              <a:t>ProofGate controls each step</a:t>
            </a:r>
          </a:p>
        </p:txBody>
      </p:sp>
      <p:sp>
        <p:nvSpPr>
          <p:cNvPr id="2" name="text-27">
            <a:extLst xmlns:a="http://schemas.openxmlformats.org/drawingml/2006/main">
              <a:ext uri="{FF2B5EF4-FFF2-40B4-BE49-F238E27FC236}">
                <a16:creationId xmlns:a16="http://schemas.microsoft.com/office/drawing/2014/main" id="{07492AAB-2662-4897-9FEA-0E43FC0EB4D6}"/>
              </a:ext>
            </a:extLst>
          </p:cNvPr>
          <p:cNvSpPr>
            <a:spLocks xmlns:a="http://schemas.openxmlformats.org/drawingml/2006/main" noGrp="1"/>
          </p:cNvSpPr>
          <p:nvPr/>
        </p:nvSpPr>
        <p:spPr>
          <a:xfrm xmlns:a="http://schemas.openxmlformats.org/drawingml/2006/main">
            <a:off x="609600" y="15049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1">
                <a:solidFill>
                  <a:srgbClr val="2D6B51"/>
                </a:solidFill>
                <a:latin typeface="Arial"/>
                <a:ea typeface="Arial"/>
                <a:cs typeface="Arial"/>
              </a:defRPr>
            </a:pPr>
            <a:r>
              <a:rPr sz="1700" b="1">
                <a:solidFill>
                  <a:srgbClr val="2D6B51"/>
                </a:solidFill>
                <a:latin typeface="Arial"/>
                <a:ea typeface="Arial"/>
                <a:cs typeface="Arial"/>
              </a:rPr>
              <a:t>PUBLIC INPUT → HOSTED AI → ADMITTED METHOD</a:t>
            </a:r>
          </a:p>
        </p:txBody>
      </p:sp>
      <p:sp>
        <p:nvSpPr>
          <p:cNvPr id="3" name="mechanism-28">
            <a:extLst xmlns:a="http://schemas.openxmlformats.org/drawingml/2006/main">
              <a:ext uri="{FF2B5EF4-FFF2-40B4-BE49-F238E27FC236}">
                <a16:creationId xmlns:a16="http://schemas.microsoft.com/office/drawing/2014/main" id="{4CA69C7E-41F9-46CD-9E88-DAC29322614A}"/>
              </a:ext>
            </a:extLst>
          </p:cNvPr>
          <p:cNvSpPr>
            <a:spLocks xmlns:a="http://schemas.openxmlformats.org/drawingml/2006/main" noGrp="1"/>
          </p:cNvSpPr>
          <p:nvPr/>
        </p:nvSpPr>
        <p:spPr>
          <a:xfrm xmlns:a="http://schemas.openxmlformats.org/drawingml/2006/main">
            <a:off x="609600" y="2076450"/>
            <a:ext cx="1981200" cy="1009650"/>
          </a:xfrm>
          <a:prstGeom xmlns:a="http://schemas.openxmlformats.org/drawingml/2006/main" prst="rect">
            <a:avLst/>
          </a:prstGeom>
          <a:solidFill xmlns:a="http://schemas.openxmlformats.org/drawingml/2006/main">
            <a:srgbClr val="F5F3EC"/>
          </a:solidFill>
          <a:ln xmlns:a="http://schemas.openxmlformats.org/drawingml/2006/main" w="14288">
            <a:solidFill>
              <a:srgbClr val="102D3C"/>
            </a:solidFill>
            <a:prstDash val="solid"/>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Public intent</a:t>
            </a:r>
          </a:p>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and capabilities</a:t>
            </a:r>
          </a:p>
        </p:txBody>
      </p:sp>
      <p:sp>
        <p:nvSpPr>
          <p:cNvPr id="4" name="mechanism-29">
            <a:extLst xmlns:a="http://schemas.openxmlformats.org/drawingml/2006/main">
              <a:ext uri="{FF2B5EF4-FFF2-40B4-BE49-F238E27FC236}">
                <a16:creationId xmlns:a16="http://schemas.microsoft.com/office/drawing/2014/main" id="{7C4A3E36-4FA1-48D3-BBEF-D4CCE1D4942C}"/>
              </a:ext>
            </a:extLst>
          </p:cNvPr>
          <p:cNvSpPr>
            <a:spLocks xmlns:a="http://schemas.openxmlformats.org/drawingml/2006/main" noGrp="1"/>
          </p:cNvSpPr>
          <p:nvPr/>
        </p:nvSpPr>
        <p:spPr>
          <a:xfrm xmlns:a="http://schemas.openxmlformats.org/drawingml/2006/main">
            <a:off x="3057525" y="1962150"/>
            <a:ext cx="2295525" cy="1238250"/>
          </a:xfrm>
          <a:prstGeom xmlns:a="http://schemas.openxmlformats.org/drawingml/2006/main" prst="rect">
            <a:avLst/>
          </a:prstGeom>
          <a:solidFill xmlns:a="http://schemas.openxmlformats.org/drawingml/2006/main">
            <a:srgbClr val="F5F3EC"/>
          </a:solidFill>
          <a:ln xmlns:a="http://schemas.openxmlformats.org/drawingml/2006/main" w="14288">
            <a:solidFill>
              <a:srgbClr val="102D3C"/>
            </a:solidFill>
            <a:prstDash val="solid"/>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Advisory checker</a:t>
            </a:r>
          </a:p>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AI planner</a:t>
            </a:r>
          </a:p>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Method checker</a:t>
            </a:r>
          </a:p>
        </p:txBody>
      </p:sp>
      <p:sp>
        <p:nvSpPr>
          <p:cNvPr id="5" name="mechanism-30">
            <a:extLst xmlns:a="http://schemas.openxmlformats.org/drawingml/2006/main">
              <a:ext uri="{FF2B5EF4-FFF2-40B4-BE49-F238E27FC236}">
                <a16:creationId xmlns:a16="http://schemas.microsoft.com/office/drawing/2014/main" id="{8BE42A84-D14A-4ED2-A4B6-6557A922F4FA}"/>
              </a:ext>
            </a:extLst>
          </p:cNvPr>
          <p:cNvSpPr>
            <a:spLocks xmlns:a="http://schemas.openxmlformats.org/drawingml/2006/main" noGrp="1"/>
          </p:cNvSpPr>
          <p:nvPr/>
        </p:nvSpPr>
        <p:spPr>
          <a:xfrm xmlns:a="http://schemas.openxmlformats.org/drawingml/2006/main">
            <a:off x="5867400" y="2076450"/>
            <a:ext cx="2095500" cy="1009650"/>
          </a:xfrm>
          <a:prstGeom xmlns:a="http://schemas.openxmlformats.org/drawingml/2006/main" prst="rect">
            <a:avLst/>
          </a:prstGeom>
          <a:solidFill xmlns:a="http://schemas.openxmlformats.org/drawingml/2006/main">
            <a:srgbClr val="F5F3EC"/>
          </a:solidFill>
          <a:ln xmlns:a="http://schemas.openxmlformats.org/drawingml/2006/main" w="14288">
            <a:solidFill>
              <a:srgbClr val="102D3C"/>
            </a:solidFill>
            <a:prstDash val="solid"/>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102D3C"/>
                </a:solidFill>
                <a:latin typeface="Arial"/>
                <a:ea typeface="Arial"/>
                <a:cs typeface="Arial"/>
              </a:defRPr>
            </a:pPr>
            <a:r>
              <a:rPr sz="1800">
                <a:solidFill>
                  <a:srgbClr val="102D3C"/>
                </a:solidFill>
                <a:latin typeface="Arial"/>
                <a:ea typeface="Arial"/>
                <a:cs typeface="Arial"/>
              </a:rPr>
              <a:t>Deterministic AND</a:t>
            </a:r>
          </a:p>
          <a:p xmlns:a="http://schemas.openxmlformats.org/drawingml/2006/main">
            <a:pPr algn="ctr">
              <a:defRPr sz="1800">
                <a:solidFill>
                  <a:srgbClr val="102D3C"/>
                </a:solidFill>
                <a:latin typeface="Arial"/>
                <a:ea typeface="Arial"/>
                <a:cs typeface="Arial"/>
              </a:defRPr>
            </a:pPr>
            <a:r>
              <a:rPr sz="1800">
                <a:solidFill>
                  <a:srgbClr val="102D3C"/>
                </a:solidFill>
                <a:latin typeface="Arial"/>
                <a:ea typeface="Arial"/>
                <a:cs typeface="Arial"/>
              </a:rPr>
              <a:t>actual AI checks</a:t>
            </a:r>
          </a:p>
        </p:txBody>
      </p: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2590800" y="2581275"/>
            <a:ext cx="466725" cy="0"/>
          </a:xfrm>
          <a:prstGeom xmlns:a="http://schemas.openxmlformats.org/drawingml/2006/main" prst="straightConnector1">
            <a:avLst/>
          </a:prstGeom>
          <a:ln xmlns:a="http://schemas.openxmlformats.org/drawingml/2006/main" w="19050">
            <a:solidFill>
              <a:srgbClr val="2D6B51"/>
            </a:solidFill>
            <a:prstDash val="solid"/>
            <a:tailEnd type="arrow" w="med" len="med"/>
          </a:ln>
        </p:spPr>
      </p:cxn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5353050" y="2581275"/>
            <a:ext cx="514350" cy="0"/>
          </a:xfrm>
          <a:prstGeom xmlns:a="http://schemas.openxmlformats.org/drawingml/2006/main" prst="straightConnector1">
            <a:avLst/>
          </a:prstGeom>
          <a:ln xmlns:a="http://schemas.openxmlformats.org/drawingml/2006/main" w="19050">
            <a:solidFill>
              <a:srgbClr val="2D6B51"/>
            </a:solidFill>
            <a:prstDash val="solid"/>
            <a:tailEnd type="arrow" w="med" len="med"/>
          </a:ln>
        </p:spPr>
      </p:cxnSp>
      <p:sp>
        <p:nvSpPr>
          <p:cNvPr id="8" name="text-31">
            <a:extLst xmlns:a="http://schemas.openxmlformats.org/drawingml/2006/main">
              <a:ext uri="{FF2B5EF4-FFF2-40B4-BE49-F238E27FC236}">
                <a16:creationId xmlns:a16="http://schemas.microsoft.com/office/drawing/2014/main" id="{D25E91B1-4353-4A17-B812-A4B33CA4C542}"/>
              </a:ext>
            </a:extLst>
          </p:cNvPr>
          <p:cNvSpPr>
            <a:spLocks xmlns:a="http://schemas.openxmlformats.org/drawingml/2006/main" noGrp="1"/>
          </p:cNvSpPr>
          <p:nvPr/>
        </p:nvSpPr>
        <p:spPr>
          <a:xfrm xmlns:a="http://schemas.openxmlformats.org/drawingml/2006/main">
            <a:off x="609600" y="366712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1">
                <a:solidFill>
                  <a:srgbClr val="2D6B51"/>
                </a:solidFill>
                <a:latin typeface="Arial"/>
                <a:ea typeface="Arial"/>
                <a:cs typeface="Arial"/>
              </a:defRPr>
            </a:pPr>
            <a:r>
              <a:rPr sz="1700" b="1">
                <a:solidFill>
                  <a:srgbClr val="2D6B51"/>
                </a:solidFill>
                <a:latin typeface="Arial"/>
                <a:ea typeface="Arial"/>
                <a:cs typeface="Arial"/>
              </a:rPr>
              <a:t>PRIVATE FACTS → LOCAL WORK</a:t>
            </a:r>
          </a:p>
        </p:txBody>
      </p:sp>
      <p:sp>
        <p:nvSpPr>
          <p:cNvPr id="9" name="mechanism-32">
            <a:extLst xmlns:a="http://schemas.openxmlformats.org/drawingml/2006/main">
              <a:ext uri="{FF2B5EF4-FFF2-40B4-BE49-F238E27FC236}">
                <a16:creationId xmlns:a16="http://schemas.microsoft.com/office/drawing/2014/main" id="{86C35233-BDE9-4064-BA76-5CEC2D5439FE}"/>
              </a:ext>
            </a:extLst>
          </p:cNvPr>
          <p:cNvSpPr>
            <a:spLocks xmlns:a="http://schemas.openxmlformats.org/drawingml/2006/main" noGrp="1"/>
          </p:cNvSpPr>
          <p:nvPr/>
        </p:nvSpPr>
        <p:spPr>
          <a:xfrm xmlns:a="http://schemas.openxmlformats.org/drawingml/2006/main">
            <a:off x="609600" y="4362450"/>
            <a:ext cx="1981200" cy="1009650"/>
          </a:xfrm>
          <a:prstGeom xmlns:a="http://schemas.openxmlformats.org/drawingml/2006/main" prst="rect">
            <a:avLst/>
          </a:prstGeom>
          <a:solidFill xmlns:a="http://schemas.openxmlformats.org/drawingml/2006/main">
            <a:srgbClr val="F5F3EC"/>
          </a:solidFill>
          <a:ln xmlns:a="http://schemas.openxmlformats.org/drawingml/2006/main" w="14288">
            <a:solidFill>
              <a:srgbClr val="102D3C"/>
            </a:solidFill>
            <a:prstDash val="solid"/>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Private records</a:t>
            </a:r>
          </a:p>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and rule bodies</a:t>
            </a:r>
          </a:p>
        </p:txBody>
      </p:sp>
      <p:sp>
        <p:nvSpPr>
          <p:cNvPr id="10" name="mechanism-33">
            <a:extLst xmlns:a="http://schemas.openxmlformats.org/drawingml/2006/main">
              <a:ext uri="{FF2B5EF4-FFF2-40B4-BE49-F238E27FC236}">
                <a16:creationId xmlns:a16="http://schemas.microsoft.com/office/drawing/2014/main" id="{8BE69EA4-A85E-4083-B364-2D0666DD72E6}"/>
              </a:ext>
            </a:extLst>
          </p:cNvPr>
          <p:cNvSpPr>
            <a:spLocks xmlns:a="http://schemas.openxmlformats.org/drawingml/2006/main" noGrp="1"/>
          </p:cNvSpPr>
          <p:nvPr/>
        </p:nvSpPr>
        <p:spPr>
          <a:xfrm xmlns:a="http://schemas.openxmlformats.org/drawingml/2006/main">
            <a:off x="5867400" y="4362450"/>
            <a:ext cx="2095500" cy="1009650"/>
          </a:xfrm>
          <a:prstGeom xmlns:a="http://schemas.openxmlformats.org/drawingml/2006/main" prst="rect">
            <a:avLst/>
          </a:prstGeom>
          <a:solidFill xmlns:a="http://schemas.openxmlformats.org/drawingml/2006/main">
            <a:srgbClr val="F5F3EC"/>
          </a:solidFill>
          <a:ln xmlns:a="http://schemas.openxmlformats.org/drawingml/2006/main" w="14288">
            <a:solidFill>
              <a:srgbClr val="102D3C"/>
            </a:solidFill>
            <a:prstDash val="solid"/>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Local executor</a:t>
            </a:r>
          </a:p>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Useful brief</a:t>
            </a:r>
          </a:p>
        </p:txBody>
      </p:sp>
      <p:sp>
        <p:nvSpPr>
          <p:cNvPr id="11" name="mechanism-34">
            <a:extLst xmlns:a="http://schemas.openxmlformats.org/drawingml/2006/main">
              <a:ext uri="{FF2B5EF4-FFF2-40B4-BE49-F238E27FC236}">
                <a16:creationId xmlns:a16="http://schemas.microsoft.com/office/drawing/2014/main" id="{A6DBBA01-B1CE-467C-8CC6-9DCC1B17CF34}"/>
              </a:ext>
            </a:extLst>
          </p:cNvPr>
          <p:cNvSpPr>
            <a:spLocks xmlns:a="http://schemas.openxmlformats.org/drawingml/2006/main" noGrp="1"/>
          </p:cNvSpPr>
          <p:nvPr/>
        </p:nvSpPr>
        <p:spPr>
          <a:xfrm xmlns:a="http://schemas.openxmlformats.org/drawingml/2006/main">
            <a:off x="8601075" y="4219575"/>
            <a:ext cx="2981325" cy="1304925"/>
          </a:xfrm>
          <a:prstGeom xmlns:a="http://schemas.openxmlformats.org/drawingml/2006/main" prst="rect">
            <a:avLst/>
          </a:prstGeom>
          <a:solidFill xmlns:a="http://schemas.openxmlformats.org/drawingml/2006/main">
            <a:srgbClr val="F5F3EC"/>
          </a:solidFill>
          <a:ln xmlns:a="http://schemas.openxmlformats.org/drawingml/2006/main" w="14288">
            <a:solidFill>
              <a:srgbClr val="102D3C"/>
            </a:solidFill>
            <a:prstDash val="solid"/>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Employee-approved</a:t>
            </a:r>
          </a:p>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internal save</a:t>
            </a:r>
          </a:p>
          <a:p xmlns:a="http://schemas.openxmlformats.org/drawingml/2006/main">
            <a:pPr algn="ctr">
              <a:defRPr sz="2000">
                <a:solidFill>
                  <a:srgbClr val="102D3C"/>
                </a:solidFill>
                <a:latin typeface="Arial"/>
                <a:ea typeface="Arial"/>
                <a:cs typeface="Arial"/>
              </a:defRPr>
            </a:pPr>
            <a:r>
              <a:rPr sz="2000">
                <a:solidFill>
                  <a:srgbClr val="102D3C"/>
                </a:solidFill>
                <a:latin typeface="Arial"/>
                <a:ea typeface="Arial"/>
                <a:cs typeface="Arial"/>
              </a:rPr>
              <a:t>Independent read-back</a:t>
            </a:r>
          </a:p>
        </p:txBody>
      </p:sp>
      <p:cxnSp>
        <p:nvCxnSpPr>
          <p:cNvPr id="27" name=""/>
          <p:cNvCxnSpPr>
            <a:stCxn xmlns:a="http://schemas.openxmlformats.org/drawingml/2006/main" id="5" idx="2"/>
            <a:endCxn xmlns:a="http://schemas.openxmlformats.org/drawingml/2006/main" id="10" idx="0"/>
          </p:cNvCxnSpPr>
          <p:nvPr/>
        </p:nvCxnSpPr>
        <p:spPr>
          <a:xfrm xmlns:a="http://schemas.openxmlformats.org/drawingml/2006/main">
            <a:off x="6915150" y="3086100"/>
            <a:ext cx="0" cy="1276350"/>
          </a:xfrm>
          <a:prstGeom xmlns:a="http://schemas.openxmlformats.org/drawingml/2006/main" prst="straightConnector1">
            <a:avLst/>
          </a:prstGeom>
          <a:ln xmlns:a="http://schemas.openxmlformats.org/drawingml/2006/main" w="19050">
            <a:solidFill>
              <a:srgbClr val="2D6B51"/>
            </a:solidFill>
            <a:prstDash val="solid"/>
            <a:tailEnd type="arrow" w="med" len="med"/>
          </a:ln>
        </p:spPr>
      </p:cxnSp>
      <p:cxnSp>
        <p:nvCxnSpPr>
          <p:cNvPr id="28" name=""/>
          <p:cNvCxnSpPr>
            <a:stCxn xmlns:a="http://schemas.openxmlformats.org/drawingml/2006/main" id="9" idx="3"/>
            <a:endCxn xmlns:a="http://schemas.openxmlformats.org/drawingml/2006/main" id="10" idx="1"/>
          </p:cNvCxnSpPr>
          <p:nvPr/>
        </p:nvCxnSpPr>
        <p:spPr>
          <a:xfrm xmlns:a="http://schemas.openxmlformats.org/drawingml/2006/main">
            <a:off x="2590800" y="4867275"/>
            <a:ext cx="3276600" cy="0"/>
          </a:xfrm>
          <a:prstGeom xmlns:a="http://schemas.openxmlformats.org/drawingml/2006/main" prst="straightConnector1">
            <a:avLst/>
          </a:prstGeom>
          <a:ln xmlns:a="http://schemas.openxmlformats.org/drawingml/2006/main" w="19050">
            <a:solidFill>
              <a:srgbClr val="2D6B51"/>
            </a:solidFill>
            <a:prstDash val="solid"/>
            <a:tailEnd type="arrow" w="med" len="med"/>
          </a:ln>
        </p:spPr>
      </p:cxnSp>
      <p:cxnSp>
        <p:nvCxnSpPr>
          <p:cNvPr id="29" name=""/>
          <p:cNvCxnSpPr>
            <a:stCxn xmlns:a="http://schemas.openxmlformats.org/drawingml/2006/main" id="10" idx="3"/>
            <a:endCxn xmlns:a="http://schemas.openxmlformats.org/drawingml/2006/main" id="11" idx="1"/>
          </p:cNvCxnSpPr>
          <p:nvPr/>
        </p:nvCxnSpPr>
        <p:spPr>
          <a:xfrm xmlns:a="http://schemas.openxmlformats.org/drawingml/2006/main">
            <a:off x="7962900" y="4867275"/>
            <a:ext cx="638175" cy="4763"/>
          </a:xfrm>
          <a:prstGeom xmlns:a="http://schemas.openxmlformats.org/drawingml/2006/main" prst="straightConnector1">
            <a:avLst/>
          </a:prstGeom>
          <a:ln xmlns:a="http://schemas.openxmlformats.org/drawingml/2006/main" w="19050">
            <a:solidFill>
              <a:srgbClr val="2D6B51"/>
            </a:solidFill>
            <a:prstDash val="solid"/>
            <a:tailEnd type="arrow" w="med" len="med"/>
          </a:ln>
        </p:spPr>
      </p:cxnSp>
      <p:sp>
        <p:nvSpPr>
          <p:cNvPr id="15" name="text-35">
            <a:extLst xmlns:a="http://schemas.openxmlformats.org/drawingml/2006/main">
              <a:ext uri="{FF2B5EF4-FFF2-40B4-BE49-F238E27FC236}">
                <a16:creationId xmlns:a16="http://schemas.microsoft.com/office/drawing/2014/main" id="{EB6D1332-D6CD-4781-A1EC-E60CDDAAD16D}"/>
              </a:ext>
            </a:extLst>
          </p:cNvPr>
          <p:cNvSpPr>
            <a:spLocks xmlns:a="http://schemas.openxmlformats.org/drawingml/2006/main" noGrp="1"/>
          </p:cNvSpPr>
          <p:nvPr/>
        </p:nvSpPr>
        <p:spPr>
          <a:xfrm xmlns:a="http://schemas.openxmlformats.org/drawingml/2006/main">
            <a:off x="609600" y="6010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65960"/>
                </a:solidFill>
                <a:latin typeface="Arial"/>
                <a:ea typeface="Arial"/>
                <a:cs typeface="Arial"/>
              </a:defRPr>
            </a:pPr>
            <a:r>
              <a:rPr sz="1800" b="0">
                <a:solidFill>
                  <a:srgbClr val="465960"/>
                </a:solidFill>
                <a:latin typeface="Arial"/>
                <a:ea typeface="Arial"/>
                <a:cs typeface="Arial"/>
              </a:rPr>
              <a:t>Authenticated host · current policy · finite shared allowance · observable audit and export</a:t>
            </a:r>
          </a:p>
        </p:txBody>
      </p:sp>
    </p:spTree>
    <p:extLst>
      <p:ext uri="{BB962C8B-B14F-4D97-AF65-F5344CB8AC3E}">
        <p14:creationId xmlns:p14="http://schemas.microsoft.com/office/powerpoint/2010/main" val="1447046964"/>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text-36">
            <a:extLst xmlns:a="http://schemas.openxmlformats.org/drawingml/2006/main">
              <a:ext uri="{FF2B5EF4-FFF2-40B4-BE49-F238E27FC236}">
                <a16:creationId xmlns:a16="http://schemas.microsoft.com/office/drawing/2014/main" id="{4C4B493F-E4A9-4E07-A2AA-67C39CE2C23D}"/>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102D3C"/>
                </a:solidFill>
                <a:latin typeface="Arial"/>
                <a:ea typeface="Arial"/>
                <a:cs typeface="Arial"/>
              </a:defRPr>
            </a:pPr>
            <a:r>
              <a:rPr sz="3400" b="1">
                <a:solidFill>
                  <a:srgbClr val="102D3C"/>
                </a:solidFill>
                <a:latin typeface="Arial"/>
                <a:ea typeface="Arial"/>
                <a:cs typeface="Arial"/>
              </a:rPr>
              <a:t>Inspect what the hosted models received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3da4c814b9a4055"/>
          <a:stretch xmlns:a="http://schemas.openxmlformats.org/drawingml/2006/main"/>
        </p:blipFill>
        <p:spPr>
          <a:xfrm xmlns:a="http://schemas.openxmlformats.org/drawingml/2006/main">
            <a:off x="2121020" y="1524000"/>
            <a:ext cx="3073160" cy="4286250"/>
          </a:xfrm>
          <a:prstGeom xmlns:a="http://schemas.openxmlformats.org/drawingml/2006/main" prst="rect">
            <a:avLst/>
          </a:prstGeom>
        </p:spPr>
      </p:pic>
      <p:sp>
        <p:nvSpPr>
          <p:cNvPr id="3" name="text-37">
            <a:extLst xmlns:a="http://schemas.openxmlformats.org/drawingml/2006/main">
              <a:ext uri="{FF2B5EF4-FFF2-40B4-BE49-F238E27FC236}">
                <a16:creationId xmlns:a16="http://schemas.microsoft.com/office/drawing/2014/main" id="{647DDEA1-D527-4B79-9DD1-65516EDA179A}"/>
              </a:ext>
            </a:extLst>
          </p:cNvPr>
          <p:cNvSpPr>
            <a:spLocks xmlns:a="http://schemas.openxmlformats.org/drawingml/2006/main" noGrp="1"/>
          </p:cNvSpPr>
          <p:nvPr/>
        </p:nvSpPr>
        <p:spPr>
          <a:xfrm xmlns:a="http://schemas.openxmlformats.org/drawingml/2006/main">
            <a:off x="7239000" y="1571625"/>
            <a:ext cx="434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D6B51"/>
                </a:solidFill>
                <a:latin typeface="Arial"/>
                <a:ea typeface="Arial"/>
                <a:cs typeface="Arial"/>
              </a:defRPr>
            </a:pPr>
            <a:r>
              <a:rPr sz="2400" b="1">
                <a:solidFill>
                  <a:srgbClr val="2D6B51"/>
                </a:solidFill>
                <a:latin typeface="Arial"/>
                <a:ea typeface="Arial"/>
                <a:cs typeface="Arial"/>
              </a:rPr>
              <a:t>Disclosed public input</a:t>
            </a:r>
          </a:p>
        </p:txBody>
      </p:sp>
      <p:sp>
        <p:nvSpPr>
          <p:cNvPr id="4" name="text-38">
            <a:extLst xmlns:a="http://schemas.openxmlformats.org/drawingml/2006/main">
              <a:ext uri="{FF2B5EF4-FFF2-40B4-BE49-F238E27FC236}">
                <a16:creationId xmlns:a16="http://schemas.microsoft.com/office/drawing/2014/main" id="{55794A56-F4E8-44A3-98AD-E7DAFEDE9750}"/>
              </a:ext>
            </a:extLst>
          </p:cNvPr>
          <p:cNvSpPr>
            <a:spLocks xmlns:a="http://schemas.openxmlformats.org/drawingml/2006/main" noGrp="1"/>
          </p:cNvSpPr>
          <p:nvPr/>
        </p:nvSpPr>
        <p:spPr>
          <a:xfrm xmlns:a="http://schemas.openxmlformats.org/drawingml/2006/main">
            <a:off x="7239000" y="2371725"/>
            <a:ext cx="4343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Employee intent and capabilities</a:t>
            </a:r>
          </a:p>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Admitted public advisory</a:t>
            </a:r>
          </a:p>
          <a:p xmlns:a="http://schemas.openxmlformats.org/drawingml/2006/main">
            <a:pPr algn="l">
              <a:defRPr sz="2200" b="0">
                <a:solidFill>
                  <a:srgbClr val="102D3C"/>
                </a:solidFill>
                <a:latin typeface="Arial"/>
                <a:ea typeface="Arial"/>
                <a:cs typeface="Arial"/>
              </a:defRPr>
            </a:pPr>
            <a:r>
              <a:rPr sz="2200" b="0">
                <a:solidFill>
                  <a:srgbClr val="102D3C"/>
                </a:solidFill>
                <a:latin typeface="Arial"/>
                <a:ea typeface="Arial"/>
                <a:cs typeface="Arial"/>
              </a:rPr>
              <a:t>Proposed approved method</a:t>
            </a:r>
          </a:p>
        </p:txBody>
      </p:sp>
      <p:sp>
        <p:nvSpPr>
          <p:cNvPr id="5" name="text-39">
            <a:extLst xmlns:a="http://schemas.openxmlformats.org/drawingml/2006/main">
              <a:ext uri="{FF2B5EF4-FFF2-40B4-BE49-F238E27FC236}">
                <a16:creationId xmlns:a16="http://schemas.microsoft.com/office/drawing/2014/main" id="{E0CBF079-5802-48A1-A1AE-44034CB473FC}"/>
              </a:ext>
            </a:extLst>
          </p:cNvPr>
          <p:cNvSpPr>
            <a:spLocks xmlns:a="http://schemas.openxmlformats.org/drawingml/2006/main" noGrp="1"/>
          </p:cNvSpPr>
          <p:nvPr/>
        </p:nvSpPr>
        <p:spPr>
          <a:xfrm xmlns:a="http://schemas.openxmlformats.org/drawingml/2006/main">
            <a:off x="7239000" y="4410075"/>
            <a:ext cx="43434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00" b="1">
                <a:solidFill>
                  <a:srgbClr val="102D3C"/>
                </a:solidFill>
                <a:latin typeface="Arial"/>
                <a:ea typeface="Arial"/>
                <a:cs typeface="Arial"/>
              </a:defRPr>
            </a:pPr>
            <a:r>
              <a:rPr sz="2200" b="1">
                <a:solidFill>
                  <a:srgbClr val="102D3C"/>
                </a:solidFill>
                <a:latin typeface="Arial"/>
                <a:ea typeface="Arial"/>
                <a:cs typeface="Arial"/>
              </a:rPr>
              <a:t>The inspected bodies exclude</a:t>
            </a:r>
          </a:p>
          <a:p xmlns:a="http://schemas.openxmlformats.org/drawingml/2006/main">
            <a:pPr algn="l">
              <a:defRPr sz="2200" b="1">
                <a:solidFill>
                  <a:srgbClr val="102D3C"/>
                </a:solidFill>
                <a:latin typeface="Arial"/>
                <a:ea typeface="Arial"/>
                <a:cs typeface="Arial"/>
              </a:defRPr>
            </a:pPr>
            <a:r>
              <a:rPr sz="2200" b="1">
                <a:solidFill>
                  <a:srgbClr val="102D3C"/>
                </a:solidFill>
                <a:latin typeface="Arial"/>
                <a:ea typeface="Arial"/>
                <a:cs typeface="Arial"/>
              </a:rPr>
              <a:t>private records, rule bodies</a:t>
            </a:r>
          </a:p>
          <a:p xmlns:a="http://schemas.openxmlformats.org/drawingml/2006/main">
            <a:pPr algn="l">
              <a:defRPr sz="2200" b="1">
                <a:solidFill>
                  <a:srgbClr val="102D3C"/>
                </a:solidFill>
                <a:latin typeface="Arial"/>
                <a:ea typeface="Arial"/>
                <a:cs typeface="Arial"/>
              </a:defRPr>
            </a:pPr>
            <a:r>
              <a:rPr sz="2200" b="1">
                <a:solidFill>
                  <a:srgbClr val="102D3C"/>
                </a:solidFill>
                <a:latin typeface="Arial"/>
                <a:ea typeface="Arial"/>
                <a:cs typeface="Arial"/>
              </a:rPr>
              <a:t>and the computed brief.</a:t>
            </a:r>
          </a:p>
        </p:txBody>
      </p:sp>
      <p:sp>
        <p:nvSpPr>
          <p:cNvPr id="6" name="text-40">
            <a:extLst xmlns:a="http://schemas.openxmlformats.org/drawingml/2006/main">
              <a:ext uri="{FF2B5EF4-FFF2-40B4-BE49-F238E27FC236}">
                <a16:creationId xmlns:a16="http://schemas.microsoft.com/office/drawing/2014/main" id="{67BDE9BF-75FE-48F0-ADCB-AF3A72EE2BAA}"/>
              </a:ext>
            </a:extLst>
          </p:cNvPr>
          <p:cNvSpPr>
            <a:spLocks xmlns:a="http://schemas.openxmlformats.org/drawingml/2006/main" noGrp="1"/>
          </p:cNvSpPr>
          <p:nvPr/>
        </p:nvSpPr>
        <p:spPr>
          <a:xfrm xmlns:a="http://schemas.openxmlformats.org/drawingml/2006/main">
            <a:off x="609600" y="60864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0">
                <a:solidFill>
                  <a:srgbClr val="465960"/>
                </a:solidFill>
                <a:latin typeface="Arial"/>
                <a:ea typeface="Arial"/>
                <a:cs typeface="Arial"/>
              </a:defRPr>
            </a:pPr>
            <a:r>
              <a:rPr sz="1700" b="0">
                <a:solidFill>
                  <a:srgbClr val="465960"/>
                </a:solidFill>
                <a:latin typeface="Arial"/>
                <a:ea typeface="Arial"/>
                <a:cs typeface="Arial"/>
              </a:rPr>
              <a:t>Task/capability and transport metadata remain disclosed. The local host and employee are trusted.</a:t>
            </a:r>
          </a:p>
        </p:txBody>
      </p:sp>
    </p:spTree>
    <p:extLst>
      <p:ext uri="{BB962C8B-B14F-4D97-AF65-F5344CB8AC3E}">
        <p14:creationId xmlns:p14="http://schemas.microsoft.com/office/powerpoint/2010/main" val="462551977"/>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text-41">
            <a:extLst xmlns:a="http://schemas.openxmlformats.org/drawingml/2006/main">
              <a:ext uri="{FF2B5EF4-FFF2-40B4-BE49-F238E27FC236}">
                <a16:creationId xmlns:a16="http://schemas.microsoft.com/office/drawing/2014/main" id="{27A98DA8-C97A-4302-B763-88D179FD7C11}"/>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102D3C"/>
                </a:solidFill>
                <a:latin typeface="Arial"/>
                <a:ea typeface="Arial"/>
                <a:cs typeface="Arial"/>
              </a:defRPr>
            </a:pPr>
            <a:r>
              <a:rPr sz="3400" b="1">
                <a:solidFill>
                  <a:srgbClr val="102D3C"/>
                </a:solidFill>
                <a:latin typeface="Arial"/>
                <a:ea typeface="Arial"/>
                <a:cs typeface="Arial"/>
              </a:rPr>
              <a:t>An internal save must match the actual brief</a:t>
            </a:r>
          </a:p>
        </p:txBody>
      </p:sp>
      <p:sp>
        <p:nvSpPr>
          <p:cNvPr id="2" name="text-42">
            <a:extLst xmlns:a="http://schemas.openxmlformats.org/drawingml/2006/main">
              <a:ext uri="{FF2B5EF4-FFF2-40B4-BE49-F238E27FC236}">
                <a16:creationId xmlns:a16="http://schemas.microsoft.com/office/drawing/2014/main" id="{5F489826-7C7E-462C-9E64-0110EF06966A}"/>
              </a:ext>
            </a:extLst>
          </p:cNvPr>
          <p:cNvSpPr>
            <a:spLocks xmlns:a="http://schemas.openxmlformats.org/drawingml/2006/main" noGrp="1"/>
          </p:cNvSpPr>
          <p:nvPr/>
        </p:nvSpPr>
        <p:spPr>
          <a:xfrm xmlns:a="http://schemas.openxmlformats.org/drawingml/2006/main">
            <a:off x="609600" y="1552575"/>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D6B51"/>
                </a:solidFill>
                <a:latin typeface="Arial"/>
                <a:ea typeface="Arial"/>
                <a:cs typeface="Arial"/>
              </a:defRPr>
            </a:pPr>
            <a:r>
              <a:rPr sz="2400" b="1">
                <a:solidFill>
                  <a:srgbClr val="2D6B51"/>
                </a:solidFill>
                <a:latin typeface="Arial"/>
                <a:ea typeface="Arial"/>
                <a:cs typeface="Arial"/>
              </a:rPr>
              <a:t>Observed permitted action</a:t>
            </a:r>
          </a:p>
        </p:txBody>
      </p:sp>
      <p:sp>
        <p:nvSpPr>
          <p:cNvPr id="3" name="text-43">
            <a:extLst xmlns:a="http://schemas.openxmlformats.org/drawingml/2006/main">
              <a:ext uri="{FF2B5EF4-FFF2-40B4-BE49-F238E27FC236}">
                <a16:creationId xmlns:a16="http://schemas.microsoft.com/office/drawing/2014/main" id="{A403410B-363D-4EC2-BAD6-5A19883A0250}"/>
              </a:ext>
            </a:extLst>
          </p:cNvPr>
          <p:cNvSpPr>
            <a:spLocks xmlns:a="http://schemas.openxmlformats.org/drawingml/2006/main" noGrp="1"/>
          </p:cNvSpPr>
          <p:nvPr/>
        </p:nvSpPr>
        <p:spPr>
          <a:xfrm xmlns:a="http://schemas.openxmlformats.org/drawingml/2006/main">
            <a:off x="609600" y="2266950"/>
            <a:ext cx="53911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02D3C"/>
                </a:solidFill>
                <a:latin typeface="Arial"/>
                <a:ea typeface="Arial"/>
                <a:cs typeface="Arial"/>
              </a:defRPr>
            </a:pPr>
            <a:r>
              <a:rPr sz="3000" b="1">
                <a:solidFill>
                  <a:srgbClr val="102D3C"/>
                </a:solidFill>
                <a:latin typeface="Arial"/>
                <a:ea typeface="Arial"/>
                <a:cs typeface="Arial"/>
              </a:rPr>
              <a:t>1 exact internal record</a:t>
            </a:r>
          </a:p>
          <a:p xmlns:a="http://schemas.openxmlformats.org/drawingml/2006/main">
            <a:pPr algn="l">
              <a:defRPr sz="3000" b="1">
                <a:solidFill>
                  <a:srgbClr val="102D3C"/>
                </a:solidFill>
                <a:latin typeface="Arial"/>
                <a:ea typeface="Arial"/>
                <a:cs typeface="Arial"/>
              </a:defRPr>
            </a:pPr>
            <a:r>
              <a:rPr sz="3000" b="1">
                <a:solidFill>
                  <a:srgbClr val="102D3C"/>
                </a:solidFill>
                <a:latin typeface="Arial"/>
                <a:ea typeface="Arial"/>
                <a:cs typeface="Arial"/>
              </a:rPr>
              <a:t>confirmed independently</a:t>
            </a:r>
          </a:p>
        </p:txBody>
      </p:sp>
      <p:sp>
        <p:nvSpPr>
          <p:cNvPr id="4" name="text-44">
            <a:extLst xmlns:a="http://schemas.openxmlformats.org/drawingml/2006/main">
              <a:ext uri="{FF2B5EF4-FFF2-40B4-BE49-F238E27FC236}">
                <a16:creationId xmlns:a16="http://schemas.microsoft.com/office/drawing/2014/main" id="{95E4C036-55EF-4669-8BAE-7AA934E488D1}"/>
              </a:ext>
            </a:extLst>
          </p:cNvPr>
          <p:cNvSpPr>
            <a:spLocks xmlns:a="http://schemas.openxmlformats.org/drawingml/2006/main" noGrp="1"/>
          </p:cNvSpPr>
          <p:nvPr/>
        </p:nvSpPr>
        <p:spPr>
          <a:xfrm xmlns:a="http://schemas.openxmlformats.org/drawingml/2006/main">
            <a:off x="609600" y="3829050"/>
            <a:ext cx="5391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Employee approves the current brief.</a:t>
            </a:r>
          </a:p>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An independent reader checks its content</a:t>
            </a:r>
          </a:p>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and artifact / action identities.</a:t>
            </a:r>
          </a:p>
        </p:txBody>
      </p:sp>
      <p:sp>
        <p:nvSpPr>
          <p:cNvPr id="5" name="text-45">
            <a:extLst xmlns:a="http://schemas.openxmlformats.org/drawingml/2006/main">
              <a:ext uri="{FF2B5EF4-FFF2-40B4-BE49-F238E27FC236}">
                <a16:creationId xmlns:a16="http://schemas.microsoft.com/office/drawing/2014/main" id="{DC2DBA41-D77F-413E-ABFB-FDD49D808FF0}"/>
              </a:ext>
            </a:extLst>
          </p:cNvPr>
          <p:cNvSpPr>
            <a:spLocks xmlns:a="http://schemas.openxmlformats.org/drawingml/2006/main" noGrp="1"/>
          </p:cNvSpPr>
          <p:nvPr/>
        </p:nvSpPr>
        <p:spPr>
          <a:xfrm xmlns:a="http://schemas.openxmlformats.org/drawingml/2006/main">
            <a:off x="609600" y="5629275"/>
            <a:ext cx="5391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a:solidFill>
                  <a:srgbClr val="102D3C"/>
                </a:solidFill>
                <a:latin typeface="Arial"/>
                <a:ea typeface="Arial"/>
                <a:cs typeface="Arial"/>
              </a:defRPr>
            </a:pPr>
            <a:r>
              <a:rPr sz="2000" b="0">
                <a:solidFill>
                  <a:srgbClr val="102D3C"/>
                </a:solidFill>
                <a:latin typeface="Arial"/>
                <a:ea typeface="Arial"/>
                <a:cs typeface="Arial"/>
              </a:rPr>
              <a:t>Stale save: no added effect</a:t>
            </a:r>
          </a:p>
          <a:p xmlns:a="http://schemas.openxmlformats.org/drawingml/2006/main">
            <a:pPr algn="l">
              <a:defRPr sz="2000" b="0">
                <a:solidFill>
                  <a:srgbClr val="102D3C"/>
                </a:solidFill>
                <a:latin typeface="Arial"/>
                <a:ea typeface="Arial"/>
                <a:cs typeface="Arial"/>
              </a:defRPr>
            </a:pPr>
            <a:r>
              <a:rPr sz="2000" b="0">
                <a:solidFill>
                  <a:srgbClr val="102D3C"/>
                </a:solidFill>
                <a:latin typeface="Arial"/>
                <a:ea typeface="Arial"/>
                <a:cs typeface="Arial"/>
              </a:rPr>
              <a:t>Manual external export: refused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8bdb9041d904a7b"/>
          <a:stretch xmlns:a="http://schemas.openxmlformats.org/drawingml/2006/main"/>
        </p:blipFill>
        <p:spPr>
          <a:xfrm xmlns:a="http://schemas.openxmlformats.org/drawingml/2006/main">
            <a:off x="6477000" y="1758710"/>
            <a:ext cx="5105400" cy="2311879"/>
          </a:xfrm>
          <a:prstGeom xmlns:a="http://schemas.openxmlformats.org/drawingml/2006/main" prst="rect">
            <a:avLst/>
          </a:prstGeom>
        </p:spPr>
      </p:pic>
      <p:sp>
        <p:nvSpPr>
          <p:cNvPr id="7" name="text-46">
            <a:extLst xmlns:a="http://schemas.openxmlformats.org/drawingml/2006/main">
              <a:ext uri="{FF2B5EF4-FFF2-40B4-BE49-F238E27FC236}">
                <a16:creationId xmlns:a16="http://schemas.microsoft.com/office/drawing/2014/main" id="{0978CF78-F576-4760-B6D6-05FF7032915D}"/>
              </a:ext>
            </a:extLst>
          </p:cNvPr>
          <p:cNvSpPr>
            <a:spLocks xmlns:a="http://schemas.openxmlformats.org/drawingml/2006/main" noGrp="1"/>
          </p:cNvSpPr>
          <p:nvPr/>
        </p:nvSpPr>
        <p:spPr>
          <a:xfrm xmlns:a="http://schemas.openxmlformats.org/drawingml/2006/main">
            <a:off x="6477000" y="4543425"/>
            <a:ext cx="51054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a:solidFill>
                  <a:srgbClr val="102D3C"/>
                </a:solidFill>
                <a:latin typeface="Arial"/>
                <a:ea typeface="Arial"/>
                <a:cs typeface="Arial"/>
              </a:defRPr>
            </a:pPr>
            <a:r>
              <a:rPr sz="2000" b="1">
                <a:solidFill>
                  <a:srgbClr val="102D3C"/>
                </a:solidFill>
                <a:latin typeface="Arial"/>
                <a:ea typeface="Arial"/>
                <a:cs typeface="Arial"/>
              </a:rPr>
              <a:t>Policy can block new dispatch.</a:t>
            </a:r>
          </a:p>
          <a:p xmlns:a="http://schemas.openxmlformats.org/drawingml/2006/main">
            <a:pPr algn="l">
              <a:defRPr sz="2000" b="1">
                <a:solidFill>
                  <a:srgbClr val="102D3C"/>
                </a:solidFill>
                <a:latin typeface="Arial"/>
                <a:ea typeface="Arial"/>
                <a:cs typeface="Arial"/>
              </a:defRPr>
            </a:pPr>
            <a:r>
              <a:rPr sz="2000" b="1">
                <a:solidFill>
                  <a:srgbClr val="102D3C"/>
                </a:solidFill>
                <a:latin typeface="Arial"/>
                <a:ea typeface="Arial"/>
                <a:cs typeface="Arial"/>
              </a:rPr>
              <a:t>Hostile advisory quarantined as a whole.</a:t>
            </a:r>
          </a:p>
          <a:p xmlns:a="http://schemas.openxmlformats.org/drawingml/2006/main">
            <a:pPr algn="l">
              <a:defRPr sz="2000" b="1">
                <a:solidFill>
                  <a:srgbClr val="102D3C"/>
                </a:solidFill>
                <a:latin typeface="Arial"/>
                <a:ea typeface="Arial"/>
                <a:cs typeface="Arial"/>
              </a:defRPr>
            </a:pPr>
            <a:r>
              <a:rPr sz="2000" b="1">
                <a:solidFill>
                  <a:srgbClr val="102D3C"/>
                </a:solidFill>
                <a:latin typeface="Arial"/>
                <a:ea typeface="Arial"/>
                <a:cs typeface="Arial"/>
              </a:rPr>
              <a:t>Actor, checker and tools share one budget.</a:t>
            </a:r>
          </a:p>
        </p:txBody>
      </p:sp>
      <p:sp>
        <p:nvSpPr>
          <p:cNvPr id="8" name="text-47">
            <a:extLst xmlns:a="http://schemas.openxmlformats.org/drawingml/2006/main">
              <a:ext uri="{FF2B5EF4-FFF2-40B4-BE49-F238E27FC236}">
                <a16:creationId xmlns:a16="http://schemas.microsoft.com/office/drawing/2014/main" id="{4390747E-3633-449E-9A38-AD63C18956D1}"/>
              </a:ext>
            </a:extLst>
          </p:cNvPr>
          <p:cNvSpPr>
            <a:spLocks xmlns:a="http://schemas.openxmlformats.org/drawingml/2006/main" noGrp="1"/>
          </p:cNvSpPr>
          <p:nvPr/>
        </p:nvSpPr>
        <p:spPr>
          <a:xfrm xmlns:a="http://schemas.openxmlformats.org/drawingml/2006/main">
            <a:off x="6477000" y="6067425"/>
            <a:ext cx="5105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a:solidFill>
                  <a:srgbClr val="465960"/>
                </a:solidFill>
                <a:latin typeface="Arial"/>
                <a:ea typeface="Arial"/>
                <a:cs typeface="Arial"/>
              </a:defRPr>
            </a:pPr>
            <a:r>
              <a:rPr sz="1600" b="0">
                <a:solidFill>
                  <a:srgbClr val="465960"/>
                </a:solidFill>
                <a:latin typeface="Arial"/>
                <a:ea typeface="Arial"/>
                <a:cs typeface="Arial"/>
              </a:rPr>
              <a:t>Save evidence is retained and separately dated. A GET screenshot makes no new save.</a:t>
            </a:r>
          </a:p>
        </p:txBody>
      </p:sp>
    </p:spTree>
    <p:extLst>
      <p:ext uri="{BB962C8B-B14F-4D97-AF65-F5344CB8AC3E}">
        <p14:creationId xmlns:p14="http://schemas.microsoft.com/office/powerpoint/2010/main" val="363314864"/>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text-48">
            <a:extLst xmlns:a="http://schemas.openxmlformats.org/drawingml/2006/main">
              <a:ext uri="{FF2B5EF4-FFF2-40B4-BE49-F238E27FC236}">
                <a16:creationId xmlns:a16="http://schemas.microsoft.com/office/drawing/2014/main" id="{718923FA-D537-4BA5-9429-633E378A6AF3}"/>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00" b="1">
                <a:solidFill>
                  <a:srgbClr val="102D3C"/>
                </a:solidFill>
                <a:latin typeface="Arial"/>
                <a:ea typeface="Arial"/>
                <a:cs typeface="Arial"/>
              </a:defRPr>
            </a:pPr>
            <a:r>
              <a:rPr sz="3400" b="1">
                <a:solidFill>
                  <a:srgbClr val="102D3C"/>
                </a:solidFill>
                <a:latin typeface="Arial"/>
                <a:ea typeface="Arial"/>
                <a:cs typeface="Arial"/>
              </a:rPr>
              <a:t>Evidence you can inspect; limits you should know</a:t>
            </a:r>
          </a:p>
        </p:txBody>
      </p:sp>
      <p:sp>
        <p:nvSpPr>
          <p:cNvPr id="2" name="text-49">
            <a:extLst xmlns:a="http://schemas.openxmlformats.org/drawingml/2006/main">
              <a:ext uri="{FF2B5EF4-FFF2-40B4-BE49-F238E27FC236}">
                <a16:creationId xmlns:a16="http://schemas.microsoft.com/office/drawing/2014/main" id="{B44EE739-BD99-481B-B2CF-5FEC60873730}"/>
              </a:ext>
            </a:extLst>
          </p:cNvPr>
          <p:cNvSpPr>
            <a:spLocks xmlns:a="http://schemas.openxmlformats.org/drawingml/2006/main" noGrp="1"/>
          </p:cNvSpPr>
          <p:nvPr/>
        </p:nvSpPr>
        <p:spPr>
          <a:xfrm xmlns:a="http://schemas.openxmlformats.org/drawingml/2006/main">
            <a:off x="609600" y="1581150"/>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D6B51"/>
                </a:solidFill>
                <a:latin typeface="Arial"/>
                <a:ea typeface="Arial"/>
                <a:cs typeface="Arial"/>
              </a:defRPr>
            </a:pPr>
            <a:r>
              <a:rPr sz="2400" b="1">
                <a:solidFill>
                  <a:srgbClr val="2D6B51"/>
                </a:solidFill>
                <a:latin typeface="Arial"/>
                <a:ea typeface="Arial"/>
                <a:cs typeface="Arial"/>
              </a:rPr>
              <a:t>Retained actual evidence</a:t>
            </a:r>
          </a:p>
        </p:txBody>
      </p:sp>
      <p:sp>
        <p:nvSpPr>
          <p:cNvPr id="3" name="text-50">
            <a:extLst xmlns:a="http://schemas.openxmlformats.org/drawingml/2006/main">
              <a:ext uri="{FF2B5EF4-FFF2-40B4-BE49-F238E27FC236}">
                <a16:creationId xmlns:a16="http://schemas.microsoft.com/office/drawing/2014/main" id="{CE7B0921-84AA-431A-8E7A-7CA121D7279F}"/>
              </a:ext>
            </a:extLst>
          </p:cNvPr>
          <p:cNvSpPr>
            <a:spLocks xmlns:a="http://schemas.openxmlformats.org/drawingml/2006/main" noGrp="1"/>
          </p:cNvSpPr>
          <p:nvPr/>
        </p:nvSpPr>
        <p:spPr>
          <a:xfrm xmlns:a="http://schemas.openxmlformats.org/drawingml/2006/main">
            <a:off x="609600" y="2324100"/>
            <a:ext cx="54102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Hosted AI returned the admitted methods</a:t>
            </a:r>
          </a:p>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Local rebind changed the selected suppliers</a:t>
            </a:r>
          </a:p>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Internal effects matched independent records</a:t>
            </a:r>
          </a:p>
          <a:p xmlns:a="http://schemas.openxmlformats.org/drawingml/2006/main">
            <a:pPr algn="l">
              <a:defRPr sz="2100" b="0">
                <a:solidFill>
                  <a:srgbClr val="102D3C"/>
                </a:solidFill>
                <a:latin typeface="Arial"/>
                <a:ea typeface="Arial"/>
                <a:cs typeface="Arial"/>
              </a:defRPr>
            </a:pPr>
            <a:r>
              <a:rPr sz="2100" b="0">
                <a:solidFill>
                  <a:srgbClr val="102D3C"/>
                </a:solidFill>
                <a:latin typeface="Arial"/>
                <a:ea typeface="Arial"/>
                <a:cs typeface="Arial"/>
              </a:rPr>
              <a:t>Audit, captures and measured spans inspectable</a:t>
            </a:r>
          </a:p>
        </p:txBody>
      </p:sp>
      <p:sp>
        <p:nvSpPr>
          <p:cNvPr id="4" name="text-51">
            <a:extLst xmlns:a="http://schemas.openxmlformats.org/drawingml/2006/main">
              <a:ext uri="{FF2B5EF4-FFF2-40B4-BE49-F238E27FC236}">
                <a16:creationId xmlns:a16="http://schemas.microsoft.com/office/drawing/2014/main" id="{068EF590-3E98-4B48-AEC4-4A92EDE2DAA1}"/>
              </a:ext>
            </a:extLst>
          </p:cNvPr>
          <p:cNvSpPr>
            <a:spLocks xmlns:a="http://schemas.openxmlformats.org/drawingml/2006/main" noGrp="1"/>
          </p:cNvSpPr>
          <p:nvPr/>
        </p:nvSpPr>
        <p:spPr>
          <a:xfrm xmlns:a="http://schemas.openxmlformats.org/drawingml/2006/main">
            <a:off x="609600" y="4733925"/>
            <a:ext cx="5410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1">
                <a:solidFill>
                  <a:srgbClr val="102D3C"/>
                </a:solidFill>
                <a:latin typeface="Arial"/>
                <a:ea typeface="Arial"/>
                <a:cs typeface="Arial"/>
              </a:defRPr>
            </a:pPr>
            <a:r>
              <a:rPr sz="1900" b="1">
                <a:solidFill>
                  <a:srgbClr val="102D3C"/>
                </a:solidFill>
                <a:latin typeface="Arial"/>
                <a:ea typeface="Arial"/>
                <a:cs typeface="Arial"/>
              </a:rPr>
              <a:t>339/339 offline checks in supplied evidence</a:t>
            </a:r>
          </a:p>
          <a:p xmlns:a="http://schemas.openxmlformats.org/drawingml/2006/main">
            <a:pPr algn="l">
              <a:defRPr sz="1900" b="1">
                <a:solidFill>
                  <a:srgbClr val="102D3C"/>
                </a:solidFill>
                <a:latin typeface="Arial"/>
                <a:ea typeface="Arial"/>
                <a:cs typeface="Arial"/>
              </a:defRPr>
            </a:pPr>
            <a:r>
              <a:rPr sz="1900" b="1">
                <a:solidFill>
                  <a:srgbClr val="102D3C"/>
                </a:solidFill>
                <a:latin typeface="Arial"/>
                <a:ea typeface="Arial"/>
                <a:cs typeface="Arial"/>
              </a:rPr>
              <a:t>Unknown dispatched work stays charged.</a:t>
            </a:r>
          </a:p>
        </p:txBody>
      </p:sp>
      <p:sp>
        <p:nvSpPr>
          <p:cNvPr id="5" name="text-52">
            <a:extLst xmlns:a="http://schemas.openxmlformats.org/drawingml/2006/main">
              <a:ext uri="{FF2B5EF4-FFF2-40B4-BE49-F238E27FC236}">
                <a16:creationId xmlns:a16="http://schemas.microsoft.com/office/drawing/2014/main" id="{06393B3B-BFAE-44BF-8495-E3158E439A31}"/>
              </a:ext>
            </a:extLst>
          </p:cNvPr>
          <p:cNvSpPr>
            <a:spLocks xmlns:a="http://schemas.openxmlformats.org/drawingml/2006/main" noGrp="1"/>
          </p:cNvSpPr>
          <p:nvPr/>
        </p:nvSpPr>
        <p:spPr>
          <a:xfrm xmlns:a="http://schemas.openxmlformats.org/drawingml/2006/main">
            <a:off x="609600" y="5743575"/>
            <a:ext cx="5410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0">
                <a:solidFill>
                  <a:srgbClr val="465960"/>
                </a:solidFill>
                <a:latin typeface="Arial"/>
                <a:ea typeface="Arial"/>
                <a:cs typeface="Arial"/>
              </a:defRPr>
            </a:pPr>
            <a:r>
              <a:rPr sz="1700" b="0">
                <a:solidFill>
                  <a:srgbClr val="465960"/>
                </a:solidFill>
                <a:latin typeface="Arial"/>
                <a:ea typeface="Arial"/>
                <a:cs typeface="Arial"/>
              </a:rPr>
              <a:t>Four automated walkthroughs; no human rehearsal</a:t>
            </a:r>
          </a:p>
          <a:p xmlns:a="http://schemas.openxmlformats.org/drawingml/2006/main">
            <a:pPr algn="l">
              <a:defRPr sz="1700" b="0">
                <a:solidFill>
                  <a:srgbClr val="465960"/>
                </a:solidFill>
                <a:latin typeface="Arial"/>
                <a:ea typeface="Arial"/>
                <a:cs typeface="Arial"/>
              </a:defRPr>
            </a:pPr>
            <a:r>
              <a:rPr sz="1700" b="0">
                <a:solidFill>
                  <a:srgbClr val="465960"/>
                </a:solidFill>
                <a:latin typeface="Arial"/>
                <a:ea typeface="Arial"/>
                <a:cs typeface="Arial"/>
              </a:rPr>
              <a:t>Backup: seven paced historical UI captures</a:t>
            </a:r>
          </a:p>
        </p:txBody>
      </p:sp>
      <p:sp>
        <p:nvSpPr>
          <p:cNvPr id="6" name="text-53">
            <a:extLst xmlns:a="http://schemas.openxmlformats.org/drawingml/2006/main">
              <a:ext uri="{FF2B5EF4-FFF2-40B4-BE49-F238E27FC236}">
                <a16:creationId xmlns:a16="http://schemas.microsoft.com/office/drawing/2014/main" id="{7122C2FA-805C-4F3C-82BA-24FE0939D643}"/>
              </a:ext>
            </a:extLst>
          </p:cNvPr>
          <p:cNvSpPr>
            <a:spLocks xmlns:a="http://schemas.openxmlformats.org/drawingml/2006/main" noGrp="1"/>
          </p:cNvSpPr>
          <p:nvPr/>
        </p:nvSpPr>
        <p:spPr>
          <a:xfrm xmlns:a="http://schemas.openxmlformats.org/drawingml/2006/main">
            <a:off x="6705600" y="1581150"/>
            <a:ext cx="487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2D3C"/>
                </a:solidFill>
                <a:latin typeface="Arial"/>
                <a:ea typeface="Arial"/>
                <a:cs typeface="Arial"/>
              </a:defRPr>
            </a:pPr>
            <a:r>
              <a:rPr sz="2400" b="1">
                <a:solidFill>
                  <a:srgbClr val="102D3C"/>
                </a:solidFill>
                <a:latin typeface="Arial"/>
                <a:ea typeface="Arial"/>
                <a:cs typeface="Arial"/>
              </a:rPr>
              <a:t>Material limits</a:t>
            </a:r>
          </a:p>
        </p:txBody>
      </p:sp>
      <p:sp>
        <p:nvSpPr>
          <p:cNvPr id="7" name="text-54">
            <a:extLst xmlns:a="http://schemas.openxmlformats.org/drawingml/2006/main">
              <a:ext uri="{FF2B5EF4-FFF2-40B4-BE49-F238E27FC236}">
                <a16:creationId xmlns:a16="http://schemas.microsoft.com/office/drawing/2014/main" id="{45688AE7-13D2-451D-98AB-72957426F8A4}"/>
              </a:ext>
            </a:extLst>
          </p:cNvPr>
          <p:cNvSpPr>
            <a:spLocks xmlns:a="http://schemas.openxmlformats.org/drawingml/2006/main" noGrp="1"/>
          </p:cNvSpPr>
          <p:nvPr/>
        </p:nvSpPr>
        <p:spPr>
          <a:xfrm xmlns:a="http://schemas.openxmlformats.org/drawingml/2006/main">
            <a:off x="6705600" y="2324100"/>
            <a:ext cx="48768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a:solidFill>
                  <a:srgbClr val="102D3C"/>
                </a:solidFill>
                <a:latin typeface="Arial"/>
                <a:ea typeface="Arial"/>
                <a:cs typeface="Arial"/>
              </a:defRPr>
            </a:pPr>
            <a:r>
              <a:rPr sz="2000" b="0">
                <a:solidFill>
                  <a:srgbClr val="102D3C"/>
                </a:solidFill>
                <a:latin typeface="Arial"/>
                <a:ea typeface="Arial"/>
                <a:cs typeface="Arial"/>
              </a:rPr>
              <a:t>Synthetic data; trusted host and employee</a:t>
            </a:r>
          </a:p>
          <a:p xmlns:a="http://schemas.openxmlformats.org/drawingml/2006/main">
            <a:pPr algn="l">
              <a:defRPr sz="2000" b="0">
                <a:solidFill>
                  <a:srgbClr val="102D3C"/>
                </a:solidFill>
                <a:latin typeface="Arial"/>
                <a:ea typeface="Arial"/>
                <a:cs typeface="Arial"/>
              </a:defRPr>
            </a:pPr>
            <a:r>
              <a:rPr sz="2000" b="0">
                <a:solidFill>
                  <a:srgbClr val="102D3C"/>
                </a:solidFill>
                <a:latin typeface="Arial"/>
                <a:ea typeface="Arial"/>
                <a:cs typeface="Arial"/>
              </a:rPr>
              <a:t>Hosted-only AI; no demonstrated local LLM</a:t>
            </a:r>
          </a:p>
          <a:p xmlns:a="http://schemas.openxmlformats.org/drawingml/2006/main">
            <a:pPr algn="l">
              <a:defRPr sz="2000" b="0">
                <a:solidFill>
                  <a:srgbClr val="102D3C"/>
                </a:solidFill>
                <a:latin typeface="Arial"/>
                <a:ea typeface="Arial"/>
                <a:cs typeface="Arial"/>
              </a:defRPr>
            </a:pPr>
            <a:r>
              <a:rPr sz="2000" b="0">
                <a:solidFill>
                  <a:srgbClr val="102D3C"/>
                </a:solidFill>
                <a:latin typeface="Arial"/>
                <a:ea typeface="Arial"/>
                <a:cs typeface="Arial"/>
              </a:rPr>
              <a:t>Peripheral ERP / email integrations mocked</a:t>
            </a:r>
          </a:p>
          <a:p xmlns:a="http://schemas.openxmlformats.org/drawingml/2006/main">
            <a:pPr algn="l">
              <a:defRPr sz="2000" b="0">
                <a:solidFill>
                  <a:srgbClr val="102D3C"/>
                </a:solidFill>
                <a:latin typeface="Arial"/>
                <a:ea typeface="Arial"/>
                <a:cs typeface="Arial"/>
              </a:defRPr>
            </a:pPr>
            <a:r>
              <a:rPr sz="2000" b="0">
                <a:solidFill>
                  <a:srgbClr val="102D3C"/>
                </a:solidFill>
                <a:latin typeface="Arial"/>
                <a:ea typeface="Arial"/>
                <a:cs typeface="Arial"/>
              </a:rPr>
              <a:t>Potential opportunity, not achieved savings</a:t>
            </a:r>
          </a:p>
          <a:p xmlns:a="http://schemas.openxmlformats.org/drawingml/2006/main">
            <a:pPr algn="l">
              <a:defRPr sz="2000" b="0">
                <a:solidFill>
                  <a:srgbClr val="102D3C"/>
                </a:solidFill>
                <a:latin typeface="Arial"/>
                <a:ea typeface="Arial"/>
                <a:cs typeface="Arial"/>
              </a:defRPr>
            </a:pPr>
            <a:r>
              <a:rPr sz="2000" b="0">
                <a:solidFill>
                  <a:srgbClr val="102D3C"/>
                </a:solidFill>
                <a:latin typeface="Arial"/>
                <a:ea typeface="Arial"/>
                <a:cs typeface="Arial"/>
              </a:rPr>
              <a:t>No universal security or confidentiality proof</a:t>
            </a:r>
          </a:p>
        </p:txBody>
      </p:sp>
      <p:sp>
        <p:nvSpPr>
          <p:cNvPr id="8" name="text-55">
            <a:extLst xmlns:a="http://schemas.openxmlformats.org/drawingml/2006/main">
              <a:ext uri="{FF2B5EF4-FFF2-40B4-BE49-F238E27FC236}">
                <a16:creationId xmlns:a16="http://schemas.microsoft.com/office/drawing/2014/main" id="{E3AB681B-746F-4208-9949-BE5052265B88}"/>
              </a:ext>
            </a:extLst>
          </p:cNvPr>
          <p:cNvSpPr>
            <a:spLocks xmlns:a="http://schemas.openxmlformats.org/drawingml/2006/main" noGrp="1"/>
          </p:cNvSpPr>
          <p:nvPr/>
        </p:nvSpPr>
        <p:spPr>
          <a:xfrm xmlns:a="http://schemas.openxmlformats.org/drawingml/2006/main">
            <a:off x="6705600" y="5257800"/>
            <a:ext cx="4876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65960"/>
                </a:solidFill>
                <a:latin typeface="Arial"/>
                <a:ea typeface="Arial"/>
                <a:cs typeface="Arial"/>
              </a:defRPr>
            </a:pPr>
            <a:r>
              <a:rPr sz="1800" b="0">
                <a:solidFill>
                  <a:srgbClr val="465960"/>
                </a:solidFill>
                <a:latin typeface="Arial"/>
                <a:ea typeface="Arial"/>
                <a:cs typeface="Arial"/>
              </a:rPr>
              <a:t>Historical injection on/off test:</a:t>
            </a:r>
          </a:p>
          <a:p xmlns:a="http://schemas.openxmlformats.org/drawingml/2006/main">
            <a:pPr algn="l">
              <a:defRPr sz="1800" b="0">
                <a:solidFill>
                  <a:srgbClr val="465960"/>
                </a:solidFill>
                <a:latin typeface="Arial"/>
                <a:ea typeface="Arial"/>
                <a:cs typeface="Arial"/>
              </a:defRPr>
            </a:pPr>
            <a:r>
              <a:rPr sz="1800" b="0">
                <a:solidFill>
                  <a:srgbClr val="465960"/>
                </a:solidFill>
                <a:latin typeface="Arial"/>
                <a:ea typeface="Arial"/>
                <a:cs typeface="Arial"/>
              </a:rPr>
              <a:t>no causal protection gain established.</a:t>
            </a:r>
          </a:p>
          <a:p xmlns:a="http://schemas.openxmlformats.org/drawingml/2006/main">
            <a:pPr algn="l">
              <a:defRPr sz="1800" b="0">
                <a:solidFill>
                  <a:srgbClr val="465960"/>
                </a:solidFill>
                <a:latin typeface="Arial"/>
                <a:ea typeface="Arial"/>
                <a:cs typeface="Arial"/>
              </a:defRPr>
            </a:pPr>
            <a:r>
              <a:rPr sz="1800" b="0">
                <a:solidFill>
                  <a:srgbClr val="465960"/>
                </a:solidFill>
                <a:latin typeface="Arial"/>
                <a:ea typeface="Arial"/>
                <a:cs typeface="Arial"/>
              </a:rPr>
              <a:t>Forecast overrun remains in notes and evidence.</a:t>
            </a:r>
          </a:p>
        </p:txBody>
      </p:sp>
    </p:spTree>
    <p:extLst>
      <p:ext uri="{BB962C8B-B14F-4D97-AF65-F5344CB8AC3E}">
        <p14:creationId xmlns:p14="http://schemas.microsoft.com/office/powerpoint/2010/main" val="554959966"/>
      </p:ext>
    </p:extLst>
  </p:cSld>
</p:sld>
</file>

<file path=ppt/slides/slide9.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sp>
        <p:nvSpPr>
          <p:cNvPr id="5" name="text-56">
            <a:extLst xmlns:a="http://schemas.openxmlformats.org/drawingml/2006/main">
              <a:ext uri="{FF2B5EF4-FFF2-40B4-BE49-F238E27FC236}">
                <a16:creationId xmlns:a16="http://schemas.microsoft.com/office/drawing/2014/main" id="{557FC1FC-6FC9-46C0-A9D8-135BA650DA44}"/>
              </a:ext>
            </a:extLst>
          </p:cNvPr>
          <p:cNvSpPr>
            <a:spLocks xmlns:a="http://schemas.openxmlformats.org/drawingml/2006/main" noGrp="1"/>
          </p:cNvSpPr>
          <p:nvPr/>
        </p:nvSpPr>
        <p:spPr>
          <a:xfrm xmlns:a="http://schemas.openxmlformats.org/drawingml/2006/main">
            <a:off x="609600" y="781050"/>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Choose suppliers.</a:t>
            </a:r>
          </a:p>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Prepare a useful negotiation brief.</a:t>
            </a:r>
          </a:p>
        </p:txBody>
      </p:sp>
      <p:sp>
        <p:nvSpPr>
          <p:cNvPr id="2" name="text-57">
            <a:extLst xmlns:a="http://schemas.openxmlformats.org/drawingml/2006/main">
              <a:ext uri="{FF2B5EF4-FFF2-40B4-BE49-F238E27FC236}">
                <a16:creationId xmlns:a16="http://schemas.microsoft.com/office/drawing/2014/main" id="{FFECFEF0-9053-444B-96AD-5A1826EEE5AC}"/>
              </a:ext>
            </a:extLst>
          </p:cNvPr>
          <p:cNvSpPr>
            <a:spLocks xmlns:a="http://schemas.openxmlformats.org/drawingml/2006/main" noGrp="1"/>
          </p:cNvSpPr>
          <p:nvPr/>
        </p:nvSpPr>
        <p:spPr>
          <a:xfrm xmlns:a="http://schemas.openxmlformats.org/drawingml/2006/main">
            <a:off x="609600" y="315277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00" b="0">
                <a:solidFill>
                  <a:srgbClr val="FFFFFF"/>
                </a:solidFill>
                <a:latin typeface="Arial"/>
                <a:ea typeface="Arial"/>
                <a:cs typeface="Arial"/>
              </a:defRPr>
            </a:pPr>
            <a:r>
              <a:rPr sz="2600" b="0">
                <a:solidFill>
                  <a:srgbClr val="FFFFFF"/>
                </a:solidFill>
                <a:latin typeface="Arial"/>
                <a:ea typeface="Arial"/>
                <a:cs typeface="Arial"/>
              </a:rPr>
              <a:t>AI composes the approved method.</a:t>
            </a:r>
          </a:p>
          <a:p xmlns:a="http://schemas.openxmlformats.org/drawingml/2006/main">
            <a:pPr algn="l">
              <a:defRPr sz="2600" b="0">
                <a:solidFill>
                  <a:srgbClr val="FFFFFF"/>
                </a:solidFill>
                <a:latin typeface="Arial"/>
                <a:ea typeface="Arial"/>
                <a:cs typeface="Arial"/>
              </a:defRPr>
            </a:pPr>
            <a:r>
              <a:rPr sz="2600" b="0">
                <a:solidFill>
                  <a:srgbClr val="FFFFFF"/>
                </a:solidFill>
                <a:latin typeface="Arial"/>
                <a:ea typeface="Arial"/>
                <a:cs typeface="Arial"/>
              </a:rPr>
              <a:t>Company facts and rules determine the result.</a:t>
            </a:r>
          </a:p>
        </p:txBody>
      </p:sp>
      <p:sp>
        <p:nvSpPr>
          <p:cNvPr id="3" name="text-58">
            <a:extLst xmlns:a="http://schemas.openxmlformats.org/drawingml/2006/main">
              <a:ext uri="{FF2B5EF4-FFF2-40B4-BE49-F238E27FC236}">
                <a16:creationId xmlns:a16="http://schemas.microsoft.com/office/drawing/2014/main" id="{27AC0188-1DA8-4437-9429-CC3237CE5E03}"/>
              </a:ext>
            </a:extLst>
          </p:cNvPr>
          <p:cNvSpPr>
            <a:spLocks xmlns:a="http://schemas.openxmlformats.org/drawingml/2006/main" noGrp="1"/>
          </p:cNvSpPr>
          <p:nvPr/>
        </p:nvSpPr>
        <p:spPr>
          <a:xfrm xmlns:a="http://schemas.openxmlformats.org/drawingml/2006/main">
            <a:off x="609600" y="51054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CBDDD5"/>
                </a:solidFill>
                <a:latin typeface="Arial"/>
                <a:ea typeface="Arial"/>
                <a:cs typeface="Arial"/>
              </a:defRPr>
            </a:pPr>
            <a:r>
              <a:rPr sz="2400" b="1">
                <a:solidFill>
                  <a:srgbClr val="CBDDD5"/>
                </a:solidFill>
                <a:latin typeface="Arial"/>
                <a:ea typeface="Arial"/>
                <a:cs typeface="Arial"/>
              </a:rPr>
              <a:t>ProofGate: Public Plans, Private Results</a:t>
            </a:r>
          </a:p>
        </p:txBody>
      </p:sp>
      <p:sp>
        <p:nvSpPr>
          <p:cNvPr id="4" name="text-59">
            <a:extLst xmlns:a="http://schemas.openxmlformats.org/drawingml/2006/main">
              <a:ext uri="{FF2B5EF4-FFF2-40B4-BE49-F238E27FC236}">
                <a16:creationId xmlns:a16="http://schemas.microsoft.com/office/drawing/2014/main" id="{7E7B9D5F-99E8-49F4-A9C6-17A6412D2B0E}"/>
              </a:ext>
            </a:extLst>
          </p:cNvPr>
          <p:cNvSpPr>
            <a:spLocks xmlns:a="http://schemas.openxmlformats.org/drawingml/2006/main" noGrp="1"/>
          </p:cNvSpPr>
          <p:nvPr/>
        </p:nvSpPr>
        <p:spPr>
          <a:xfrm xmlns:a="http://schemas.openxmlformats.org/drawingml/2006/main">
            <a:off x="609600" y="5772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Michał Jabłoński    Karol Krawczyk</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Kamil Krawczyk    Viktoriia Vinnykova</a:t>
            </a:r>
          </a:p>
        </p:txBody>
      </p:sp>
    </p:spTree>
    <p:extLst>
      <p:ext uri="{BB962C8B-B14F-4D97-AF65-F5344CB8AC3E}">
        <p14:creationId xmlns:p14="http://schemas.microsoft.com/office/powerpoint/2010/main" val="79471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2026-10-04T08:43:46.2850000Z</dcterms:created>
  <dcterms:modified xsi:type="dcterms:W3CDTF">2026-10-04T08:43:46.2850000Z</dcterms:modified>
</coreProperties>
</file>