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1fcdae9c55643ee" /><Relationship Type="http://schemas.openxmlformats.org/officeDocument/2006/relationships/extended-properties" Target="/docProps/app.xml" Id="R608216448fdc4680" /><Relationship Type="http://schemas.openxmlformats.org/officeDocument/2006/relationships/officeDocument" Target="/ppt/presentation.xml" Id="Rab42c43457af4d10" /></Relationships>
</file>

<file path=ppt/presentation.xml><?xml version="1.0" encoding="utf-8"?>
<p:presentation xmlns:p="http://schemas.openxmlformats.org/presentationml/2006/main">
  <p:sldMasterIdLst>
    <p:sldMasterId xmlns:r="http://schemas.openxmlformats.org/officeDocument/2006/relationships" id="2147483648" r:id="R70485e2d241c4729"/>
  </p:sldMasterIdLst>
  <p:notesMasterIdLst>
    <p:notesMasterId xmlns:r="http://schemas.openxmlformats.org/officeDocument/2006/relationships" r:id="Rb59f4149af864ea4"/>
  </p:notesMasterIdLst>
  <p:sldIdLst>
    <p:sldId xmlns:r="http://schemas.openxmlformats.org/officeDocument/2006/relationships" id="256" r:id="R5706bffe6cb04934"/>
    <p:sldId xmlns:r="http://schemas.openxmlformats.org/officeDocument/2006/relationships" id="257" r:id="Rb62cf2bab863483d"/>
    <p:sldId xmlns:r="http://schemas.openxmlformats.org/officeDocument/2006/relationships" id="258" r:id="Rfe74b2baa29d4a19"/>
    <p:sldId xmlns:r="http://schemas.openxmlformats.org/officeDocument/2006/relationships" id="259" r:id="Rf110537a83cc4555"/>
    <p:sldId xmlns:r="http://schemas.openxmlformats.org/officeDocument/2006/relationships" id="260" r:id="R7f4504425228492f"/>
    <p:sldId xmlns:r="http://schemas.openxmlformats.org/officeDocument/2006/relationships" id="261" r:id="Rf1e68dde55e54deb"/>
    <p:sldId xmlns:r="http://schemas.openxmlformats.org/officeDocument/2006/relationships" id="262" r:id="R1acffe70ad6347fe"/>
    <p:sldId xmlns:r="http://schemas.openxmlformats.org/officeDocument/2006/relationships" id="263" r:id="R118c95dfa1c74e44"/>
    <p:sldId xmlns:r="http://schemas.openxmlformats.org/officeDocument/2006/relationships" id="264" r:id="R6fb27b075aa74e0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cfed7361b4b41a7" /><Relationship Type="http://schemas.openxmlformats.org/officeDocument/2006/relationships/slideMaster" Target="/ppt/slideMasters/slideMaster1.xml" Id="R70485e2d241c4729" /><Relationship Type="http://schemas.openxmlformats.org/officeDocument/2006/relationships/notesMaster" Target="/ppt/notesMasters/notesMaster1.xml" Id="Rb59f4149af864ea4" /><Relationship Type="http://schemas.openxmlformats.org/officeDocument/2006/relationships/presProps" Target="/ppt/presProps.xml" Id="R1085617d1c08437e" /><Relationship Type="http://schemas.openxmlformats.org/officeDocument/2006/relationships/tableStyles" Target="/ppt/tableStyles.xml" Id="R0334dd5f37494db9" /><Relationship Type="http://schemas.openxmlformats.org/officeDocument/2006/relationships/slide" Target="/ppt/slides/slide1.xml" Id="R5706bffe6cb04934" /><Relationship Type="http://schemas.openxmlformats.org/officeDocument/2006/relationships/slide" Target="/ppt/slides/slide2.xml" Id="Rb62cf2bab863483d" /><Relationship Type="http://schemas.openxmlformats.org/officeDocument/2006/relationships/slide" Target="/ppt/slides/slide3.xml" Id="Rfe74b2baa29d4a19" /><Relationship Type="http://schemas.openxmlformats.org/officeDocument/2006/relationships/slide" Target="/ppt/slides/slide4.xml" Id="Rf110537a83cc4555" /><Relationship Type="http://schemas.openxmlformats.org/officeDocument/2006/relationships/slide" Target="/ppt/slides/slide5.xml" Id="R7f4504425228492f" /><Relationship Type="http://schemas.openxmlformats.org/officeDocument/2006/relationships/slide" Target="/ppt/slides/slide6.xml" Id="Rf1e68dde55e54deb" /><Relationship Type="http://schemas.openxmlformats.org/officeDocument/2006/relationships/slide" Target="/ppt/slides/slide7.xml" Id="R1acffe70ad6347fe" /><Relationship Type="http://schemas.openxmlformats.org/officeDocument/2006/relationships/slide" Target="/ppt/slides/slide8.xml" Id="R118c95dfa1c74e44" /><Relationship Type="http://schemas.openxmlformats.org/officeDocument/2006/relationships/slide" Target="/ppt/slides/slide9.xml" Id="R6fb27b075aa74e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7b1e567881468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14cff7a996848b1" /><Relationship Type="http://schemas.openxmlformats.org/officeDocument/2006/relationships/notesMaster" Target="/ppt/notesMasters/notesMaster1.xml" Id="R8a035dbd7a1c42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f41219231b4108" /><Relationship Type="http://schemas.openxmlformats.org/officeDocument/2006/relationships/notesMaster" Target="/ppt/notesMasters/notesMaster1.xml" Id="R3da786e7546d4e21" /></Relationships>
</file>

<file path=ppt/notesSlides/_rels/notesSlide3.xml.rels>&#65279;<?xml version="1.0" encoding="utf-8"?><Relationships xmlns="http://schemas.openxmlformats.org/package/2006/relationships"><Relationship Type="http://schemas.openxmlformats.org/officeDocument/2006/relationships/slide" Target="/ppt/slides/slide3.xml" Id="Rb947f01360914045" /><Relationship Type="http://schemas.openxmlformats.org/officeDocument/2006/relationships/notesMaster" Target="/ppt/notesMasters/notesMaster1.xml" Id="Reb27643bda9b4740" /></Relationships>
</file>

<file path=ppt/notesSlides/_rels/notesSlide4.xml.rels>&#65279;<?xml version="1.0" encoding="utf-8"?><Relationships xmlns="http://schemas.openxmlformats.org/package/2006/relationships"><Relationship Type="http://schemas.openxmlformats.org/officeDocument/2006/relationships/slide" Target="/ppt/slides/slide4.xml" Id="R93f27c282e0a4e42" /><Relationship Type="http://schemas.openxmlformats.org/officeDocument/2006/relationships/notesMaster" Target="/ppt/notesMasters/notesMaster1.xml" Id="R9bf54a98ed284c80"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b3a86440da4b43" /><Relationship Type="http://schemas.openxmlformats.org/officeDocument/2006/relationships/notesMaster" Target="/ppt/notesMasters/notesMaster1.xml" Id="Rd74f6a792d48434d" /></Relationships>
</file>

<file path=ppt/notesSlides/_rels/notesSlide6.xml.rels>&#65279;<?xml version="1.0" encoding="utf-8"?><Relationships xmlns="http://schemas.openxmlformats.org/package/2006/relationships"><Relationship Type="http://schemas.openxmlformats.org/officeDocument/2006/relationships/slide" Target="/ppt/slides/slide6.xml" Id="R08bc2b18affa4096" /><Relationship Type="http://schemas.openxmlformats.org/officeDocument/2006/relationships/notesMaster" Target="/ppt/notesMasters/notesMaster1.xml" Id="Rda61d4aad4fc4730" /></Relationships>
</file>

<file path=ppt/notesSlides/_rels/notesSlide7.xml.rels>&#65279;<?xml version="1.0" encoding="utf-8"?><Relationships xmlns="http://schemas.openxmlformats.org/package/2006/relationships"><Relationship Type="http://schemas.openxmlformats.org/officeDocument/2006/relationships/slide" Target="/ppt/slides/slide7.xml" Id="R67785bb5ac804d68" /><Relationship Type="http://schemas.openxmlformats.org/officeDocument/2006/relationships/notesMaster" Target="/ppt/notesMasters/notesMaster1.xml" Id="R09b30141ea1545c3" /></Relationships>
</file>

<file path=ppt/notesSlides/_rels/notesSlide8.xml.rels>&#65279;<?xml version="1.0" encoding="utf-8"?><Relationships xmlns="http://schemas.openxmlformats.org/package/2006/relationships"><Relationship Type="http://schemas.openxmlformats.org/officeDocument/2006/relationships/slide" Target="/ppt/slides/slide8.xml" Id="R9695b6be4ada478f" /><Relationship Type="http://schemas.openxmlformats.org/officeDocument/2006/relationships/notesMaster" Target="/ppt/notesMasters/notesMaster1.xml" Id="Rdd90b1553925429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f612af967744250" /><Relationship Type="http://schemas.openxmlformats.org/officeDocument/2006/relationships/notesMaster" Target="/ppt/notesMasters/notesMaster1.xml" Id="R319e89c950be4d78" /></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Opening: supplier-renewal work should benefit from AI without giving the hosted models the confidential contract worksheet or private rule bodies.</ns1:t>
            </ns1:r>
          </ns1:p>
          <ns1:p>
            <ns1:r>
              <ns1:t/>
            </ns1:r>
          </ns1:p>
          <ns1:p>
            <ns1:r>
              <ns1:t>Sources: .planning/PROJECT.md; .planning/phases/05-blind-workbench/05-CONTEXT.md; TEAM.md</ns1:t>
            </ns1:r>
          </ns1:p>
          <ns1:p>
            <ns1:r>
              <ns1:t>Actual original proof date: 2026-10-04T01:29:53.383Z. New intention proof date: 2026-10-04T02:07:09.266Z. Delivered source revision: 2c3b380306f66243305ca50d77be178b1d0b46b6. Worksheet and result crops use the authenticated retained-run GET-only screenshot at 2026-10-04T05:37:55.215Z, run 360c040e-16a1-4f81-ac76-1e1ec4ef6195. The full screenshot SHA256 is 42e0ba98bbe1400677ee8f2c56ab56780ec8f68a98020287a15cc762cb5ed8cc, with app.js SHA256 506688ca6a8544d5fabecf7a12c62e9d65544809197ac6e7e716bd64e54017dc. The documentation-only F-05 follow-up changes README guidance. Code, tests and UI retain the previously checked source bytes. The latest GET-only screenshot is file- and pixel-identical to the earlier 04:59 capture. This current native UI inspection establishes no new model inference, private rebind, save or automated walkthrough. Actual original and intention proof dates above remain historical. The four automated walkthroughs and seven backup frames remain historical, with the latest walkthrough interval 2026-10-04T02:15:51.144Z to 2026-10-04T02:15:54.500Z and provisional UI hashes. Payload and controls remain later historical GET-only captures saved at 2026-10-04T02:24:32.962809Z and 2026-10-04T02:22:42.329586Z respectively. These are file-save times, not independently recorded exact capture timestamps. The 02:25 input assembly time is not a screenshot capture time. Comparison evidence remains separately dated. No new rehearsal occurred.</ns1:t>
            </ns1:r>
          </ns1:p>
          <ns1:p>
            <ns1:r>
              <ns1: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A proposed quote alone does not determine a negotiation target. The company applies its confidential price ceiling and service threshold locally. All contracts shown are synthetic.</ns1:t>
            </ns1:r>
          </ns1:p>
          <ns1:p>
            <ns1:r>
              <ns1:t/>
            </ns1:r>
          </ns1:p>
          <ns1:p>
            <ns1:r>
              <ns1:t>Sources: src/blind.ts initialPrivate/executeRecipe; .planning/phases/05-blind-workbench/05-CONTEXT.md; current genuine worksheet capture</ns1:t>
            </ns1:r>
          </ns1:p>
          <ns1:p>
            <ns1:r>
              <ns1:t>Actual original proof date: 2026-10-04T01:29:53.383Z. New intention proof date: 2026-10-04T02:07:09.266Z. Delivered source revision: 2c3b380306f66243305ca50d77be178b1d0b46b6. Worksheet and result crops use the authenticated retained-run GET-only screenshot at 2026-10-04T05:37:55.215Z, run 360c040e-16a1-4f81-ac76-1e1ec4ef6195. The full screenshot SHA256 is 42e0ba98bbe1400677ee8f2c56ab56780ec8f68a98020287a15cc762cb5ed8cc, with app.js SHA256 506688ca6a8544d5fabecf7a12c62e9d65544809197ac6e7e716bd64e54017dc. The documentation-only F-05 follow-up changes README guidance. Code, tests and UI retain the previously checked source bytes. The latest GET-only screenshot is file- and pixel-identical to the earlier 04:59 capture. This current native UI inspection establishes no new model inference, private rebind, save or automated walkthrough. Actual original and intention proof dates above remain historical. The four automated walkthroughs and seven backup frames remain historical, with the latest walkthrough interval 2026-10-04T02:15:51.144Z to 2026-10-04T02:15:54.500Z and provisional UI hashes. Payload and controls remain later historical GET-only captures saved at 2026-10-04T02:24:32.962809Z and 2026-10-04T02:22:42.329586Z respectively. These are file-save times, not independently recorded exact capture timestamps. The 02:25 input assembly time is not a screenshot capture time. Comparison evidence remains separately dated. No new rehearsal occurred.</ns1:t>
            </ns1:r>
          </ns1:p>
          <ns1:p>
            <ns1:r>
              <ns1: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The exact public employee request was frozen before observing the model reply. Actual AI chose window60, rank soonest and limit2. The independent intention oracle expected different selected records from the two earlier prepared recipes. No superiority over forms or spreadsheets is claimed.</ns1:t>
            </ns1:r>
          </ns1:p>
          <ns1:p>
            <ns1:r>
              <ns1:t/>
            </ns1:r>
          </ns1:p>
          <ns1:p>
            <ns1:r>
              <ns1:t>Sources: current validated new-intention proof; pre-registered test/blind-intent-case.json</ns1:t>
            </ns1:r>
          </ns1:p>
          <ns1:p>
            <ns1:r>
              <ns1:t>Actual original proof date: 2026-10-04T01:29:53.383Z. New intention proof date: 2026-10-04T02:07:09.266Z. Delivered source revision: 2c3b380306f66243305ca50d77be178b1d0b46b6. Worksheet and result crops use the authenticated retained-run GET-only screenshot at 2026-10-04T05:37:55.215Z, run 360c040e-16a1-4f81-ac76-1e1ec4ef6195. The full screenshot SHA256 is 42e0ba98bbe1400677ee8f2c56ab56780ec8f68a98020287a15cc762cb5ed8cc, with app.js SHA256 506688ca6a8544d5fabecf7a12c62e9d65544809197ac6e7e716bd64e54017dc. The documentation-only F-05 follow-up changes README guidance. Code, tests and UI retain the previously checked source bytes. The latest GET-only screenshot is file- and pixel-identical to the earlier 04:59 capture. This current native UI inspection establishes no new model inference, private rebind, save or automated walkthrough. Actual original and intention proof dates above remain historical. The four automated walkthroughs and seven backup frames remain historical, with the latest walkthrough interval 2026-10-04T02:15:51.144Z to 2026-10-04T02:15:54.500Z and provisional UI hashes. Payload and controls remain later historical GET-only captures saved at 2026-10-04T02:24:32.962809Z and 2026-10-04T02:22:42.329586Z respectively. These are file-save times, not independently recorded exact capture timestamps. The 02:25 input assembly time is not a screenshot capture time. Comparison evidence remains separately dated. No new rehearsal occurred.</ns1:t>
            </ns1:r>
          </ns1:p>
          <ns1:p>
            <ns1:r>
              <ns1: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Actual new-intention proof changes independently expected potential savings from $130 to $1,060 in synthetic USD. Private quotes and price rule change. Selected records change from Near/Middle to Middle/Large. Retained actual public bodies, constructors and charged ledger remain identical during the local rebind. Separate save charges are retained. This is a potential negotiation outcome.</ns1:t>
            </ns1:r>
          </ns1:p>
          <ns1:p>
            <ns1:r>
              <ns1:t/>
            </ns1:r>
          </ns1:p>
          <ns1:p>
            <ns1:r>
              <ns1:t>Sources: current proof.objectives negotiation-savings rebind; current new-intention proof when supplied; actual current hero browser screenshot</ns1:t>
            </ns1:r>
          </ns1:p>
          <ns1:p>
            <ns1:r>
              <ns1:t>Actual original proof date: 2026-10-04T01:29:53.383Z. New intention proof date: 2026-10-04T02:07:09.266Z. Delivered source revision: 2c3b380306f66243305ca50d77be178b1d0b46b6. Worksheet and result crops use the authenticated retained-run GET-only screenshot at 2026-10-04T05:37:55.215Z, run 360c040e-16a1-4f81-ac76-1e1ec4ef6195. The full screenshot SHA256 is 42e0ba98bbe1400677ee8f2c56ab56780ec8f68a98020287a15cc762cb5ed8cc, with app.js SHA256 506688ca6a8544d5fabecf7a12c62e9d65544809197ac6e7e716bd64e54017dc. The documentation-only F-05 follow-up changes README guidance. Code, tests and UI retain the previously checked source bytes. The latest GET-only screenshot is file- and pixel-identical to the earlier 04:59 capture. This current native UI inspection establishes no new model inference, private rebind, save or automated walkthrough. Actual original and intention proof dates above remain historical. The four automated walkthroughs and seven backup frames remain historical, with the latest walkthrough interval 2026-10-04T02:15:51.144Z to 2026-10-04T02:15:54.500Z and provisional UI hashes. Payload and controls remain later historical GET-only captures saved at 2026-10-04T02:24:32.962809Z and 2026-10-04T02:22:42.329586Z respectively. These are file-save times, not independently recorded exact capture timestamps. The 02:25 input assembly time is not a screenshot capture time. Comparison evidence remains separately dated. No new rehearsal occurred.</ns1:t>
            </ns1:r>
          </ns1:p>
          <ns1:p>
            <ns1:r>
              <ns1: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The authenticated host sends only public objective/capabilities/admitted advisory or recipe to hosted stateless models. Advisory inspection precedes planner exposure. Whole recipe validation and semantic admission precede private access. A retained admitted recipe executes locally. A separate employee-approved typed MCP internal save uses independent SQLite read-back. All traffic shares current policy and the retained allowance.</ns1:t>
            </ns1:r>
          </ns1:p>
          <ns1:p>
            <ns1:r>
              <ns1:t/>
            </ns1:r>
          </ns1:p>
          <ns1:p>
            <ns1:r>
              <ns1:t>Sources: src/blind.ts; src/prompt-profiles.ts; src/model.ts; src/host.ts; fixture/blind-server.ts; fixture/blind-store.ts</ns1:t>
            </ns1:r>
          </ns1:p>
          <ns1:p>
            <ns1:r>
              <ns1:t>Actual original proof date: 2026-10-04T01:29:53.383Z. New intention proof date: 2026-10-04T02:07:09.266Z. Delivered source revision: 2c3b380306f66243305ca50d77be178b1d0b46b6. Worksheet and result crops use the authenticated retained-run GET-only screenshot at 2026-10-04T05:37:55.215Z, run 360c040e-16a1-4f81-ac76-1e1ec4ef6195. The full screenshot SHA256 is 42e0ba98bbe1400677ee8f2c56ab56780ec8f68a98020287a15cc762cb5ed8cc, with app.js SHA256 506688ca6a8544d5fabecf7a12c62e9d65544809197ac6e7e716bd64e54017dc. The documentation-only F-05 follow-up changes README guidance. Code, tests and UI retain the previously checked source bytes. The latest GET-only screenshot is file- and pixel-identical to the earlier 04:59 capture. This current native UI inspection establishes no new model inference, private rebind, save or automated walkthrough. Actual original and intention proof dates above remain historical. The four automated walkthroughs and seven backup frames remain historical, with the latest walkthrough interval 2026-10-04T02:15:51.144Z to 2026-10-04T02:15:54.500Z and provisional UI hashes. Payload and controls remain later historical GET-only captures saved at 2026-10-04T02:24:32.962809Z and 2026-10-04T02:22:42.329586Z respectively. These are file-save times, not independently recorded exact capture timestamps. The 02:25 input assembly time is not a screenshot capture time. Comparison evidence remains separately dated. No new rehearsal occurred.</ns1:t>
            </ns1:r>
          </ns1:p>
          <ns1:p>
            <ns1:r>
              <ns1: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These are actual serialized generateContent application bodies captured at the metered hosted SDK dispatch boundary. Constructor specimens are separate and are not wire evidence. Public objective/capabilities/advisory/recipe remain disclosed. Headers/OAuth are omitted from the capture and transport metadata remains disclosed. This bounded inspection does not establish formal noninterference or conceal all metadata.</ns1:t>
            </ns1:r>
          </ns1:p>
          <ns1:p>
            <ns1:r>
              <ns1:t/>
            </ns1:r>
          </ns1:p>
          <ns1:p>
            <ns1:r>
              <ns1:t>Sources: current proof.observations[].evidence.captures; src/prompt-profiles.ts validatePublicApplicationBody; current payload browser capture</ns1:t>
            </ns1:r>
          </ns1:p>
          <ns1:p>
            <ns1:r>
              <ns1:t>Actual original proof date: 2026-10-04T01:29:53.383Z. New intention proof date: 2026-10-04T02:07:09.266Z. Delivered source revision: 2c3b380306f66243305ca50d77be178b1d0b46b6. Worksheet and result crops use the authenticated retained-run GET-only screenshot at 2026-10-04T05:37:55.215Z, run 360c040e-16a1-4f81-ac76-1e1ec4ef6195. The full screenshot SHA256 is 42e0ba98bbe1400677ee8f2c56ab56780ec8f68a98020287a15cc762cb5ed8cc, with app.js SHA256 506688ca6a8544d5fabecf7a12c62e9d65544809197ac6e7e716bd64e54017dc. The documentation-only F-05 follow-up changes README guidance. Code, tests and UI retain the previously checked source bytes. The latest GET-only screenshot is file- and pixel-identical to the earlier 04:59 capture. This current native UI inspection establishes no new model inference, private rebind, save or automated walkthrough. Actual original and intention proof dates above remain historical. The four automated walkthroughs and seven backup frames remain historical, with the latest walkthrough interval 2026-10-04T02:15:51.144Z to 2026-10-04T02:15:54.500Z and provisional UI hashes. Payload and controls remain later historical GET-only captures saved at 2026-10-04T02:24:32.962809Z and 2026-10-04T02:22:42.329586Z respectively. These are file-save times, not independently recorded exact capture timestamps. The 02:25 input assembly time is not a screenshot capture time. Comparison evidence remains separately dated. No new rehearsal occurred.</ns1:t>
            </ns1:r>
          </ns1:p>
          <ns1:p>
            <ns1:r>
              <ns1: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A harmless synthetic adaptation of Invariant Labs’ GitHub MCP toxic flow tests advisory admission. One frozen observation each covers benign, active, quoted and signature-free paraphrase. Semantic quarantine removes the entire hostile advisory before actor exposure. Budget tightening and stale/manual external-save refusals are separately asserted with unchanged effect counts. A permitted current internal save matches one independently observed exact record for each objective. No causal downstream improvement follows merely from quarantine.</ns1:t>
            </ns1:r>
          </ns1:p>
          <ns1:p>
            <ns1:r>
              <ns1:t/>
            </ns1:r>
          </ns1:p>
          <ns1:p>
            <ns1:r>
              <ns1:t>Sources: test/blind-cases.json; current actual proof observations/controls/objectives; https://invariantlabs.ai/blog/mcp-github-vulnerability; current genuine controls browser capture</ns1:t>
            </ns1:r>
          </ns1:p>
          <ns1:p>
            <ns1:r>
              <ns1:t>Actual original proof date: 2026-10-04T01:29:53.383Z. New intention proof date: 2026-10-04T02:07:09.266Z. Delivered source revision: 2c3b380306f66243305ca50d77be178b1d0b46b6. Worksheet and result crops use the authenticated retained-run GET-only screenshot at 2026-10-04T05:37:55.215Z, run 360c040e-16a1-4f81-ac76-1e1ec4ef6195. The full screenshot SHA256 is 42e0ba98bbe1400677ee8f2c56ab56780ec8f68a98020287a15cc762cb5ed8cc, with app.js SHA256 506688ca6a8544d5fabecf7a12c62e9d65544809197ac6e7e716bd64e54017dc. The documentation-only F-05 follow-up changes README guidance. Code, tests and UI retain the previously checked source bytes. The latest GET-only screenshot is file- and pixel-identical to the earlier 04:59 capture. This current native UI inspection establishes no new model inference, private rebind, save or automated walkthrough. Actual original and intention proof dates above remain historical. The four automated walkthroughs and seven backup frames remain historical, with the latest walkthrough interval 2026-10-04T02:15:51.144Z to 2026-10-04T02:15:54.500Z and provisional UI hashes. Payload and controls remain later historical GET-only captures saved at 2026-10-04T02:24:32.962809Z and 2026-10-04T02:22:42.329586Z respectively. These are file-save times, not independently recorded exact capture timestamps. The 02:25 input assembly time is not a screenshot capture time. Comparison evidence remains separately dated. No new rehearsal occurred.</ns1:t>
            </ns1:r>
          </ns1:p>
          <ns1:p>
            <ns1:r>
              <ns1: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The Goldman task requires deterministic and actual semantic controls, editable policy/model/threshold/budget, realtime audit/export, positive/negative tests, architecture and measured telemetry. The package retains the exact source conflict: brief weights30/20/20/15/15, rules30/20/20/20/10. Rules permit English/Polish, stricter task page and owner choose English. Earlier cutoff is 4 October2026 11:00 Warsaw despite literal PM wording in other source text. The runtime uses owner-funded hosted Vertex synthetic inference with no local LLM. Current captured same-epoch ledger checkpoint: 328 calls and 89,021,463 admission credits, including 10 historical unknown attempts that remain charged and unreplayed. Tariff remains unknown/unpriced. Historical release on/off outcomes are separately dated; both actors succeeded safely and no downstream causal benefit was observed.</ns1:t>
            </ns1:r>
          </ns1:p>
          <ns1:p>
            <ns1:r>
              <ns1:t/>
            </ns1:r>
          </ns1:p>
          <ns1:p>
            <ns1:r>
              <ns1:t>Current bounded post-freeze repairs preserve Connect credentials and action occupancy (F-01), preserve newer record/rule edits after Reset acknowledgement (F-02), and scan nested JSON provisioning fields at source packaging (F-04). Offline regression log .proofgate/postfreeze-regression-9.tap records 339/339 tests, zero failures and skips. Injected-model checks and current GET-only inspection do not establish fresh hosted inference. Root reports current canonical Phase04/05 verification parser gates passed and independent documentation review clean. Original substantive security/UI assessments remain dated historical evidence. Exact final archive packaging and acceptance remain root-owned and pending.
Sources: current validated actual proof; integrator regression log; goldman/TASK-CONTRACT.md; .planning/PROJECT.md; package evidence.json</ns1:t>
            </ns1:r>
          </ns1:p>
          <ns1:p>
            <ns1:r>
              <ns1:t>Actual original proof date: 2026-10-04T01:29:53.383Z. New intention proof date: 2026-10-04T02:07:09.266Z. Delivered source revision: 2c3b380306f66243305ca50d77be178b1d0b46b6. Worksheet and result crops use the authenticated retained-run GET-only screenshot at 2026-10-04T05:37:55.215Z, run 360c040e-16a1-4f81-ac76-1e1ec4ef6195. The full screenshot SHA256 is 42e0ba98bbe1400677ee8f2c56ab56780ec8f68a98020287a15cc762cb5ed8cc, with app.js SHA256 506688ca6a8544d5fabecf7a12c62e9d65544809197ac6e7e716bd64e54017dc. The documentation-only F-05 follow-up changes README guidance. Code, tests and UI retain the previously checked source bytes. The latest GET-only screenshot is file- and pixel-identical to the earlier 04:59 capture. This current native UI inspection establishes no new model inference, private rebind, save or automated walkthrough. Actual original and intention proof dates above remain historical. The four automated walkthroughs and seven backup frames remain historical, with the latest walkthrough interval 2026-10-04T02:15:51.144Z to 2026-10-04T02:15:54.500Z and provisional UI hashes. Payload and controls remain later historical GET-only captures saved at 2026-10-04T02:24:32.962809Z and 2026-10-04T02:22:42.329586Z respectively. These are file-save times, not independently recorded exact capture timestamps. The 02:25 input assembly time is not a screenshot capture time. Comparison evidence remains separately dated. No new rehearsal occurred.</ns1:t>
            </ns1:r>
          </ns1:p>
          <ns1:p>
            <ns1:r>
              <ns1: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notesSlides/notesSlide9.xml><?xml version="1.0" encoding="utf-8"?>
<ns0:notes xmlns:ns0="http://schemas.openxmlformats.org/presentationml/2006/main" xmlns:ns1="http://schemas.openxmlformats.org/drawingml/2006/main">
  <ns0:cSld>
    <ns0:spTree>
      <ns0:nvGrpSpPr>
        <ns0:cNvPr id="1" name=""/>
        <ns0:cNvGrpSpPr/>
        <ns0:nvPr/>
      </ns0:nvGrpSpPr>
      <ns0:grpSpPr>
        <ns1:xfrm/>
      </ns0:grpSpPr>
      <ns0:sp>
        <ns0:nvSpPr>
          <ns0:cNvPr id="2" name="Slide Image Placeholder 1"/>
          <ns0:cNvSpPr>
            <ns1:spLocks noGrp="1"/>
          </ns0:cNvSpPr>
          <ns0:nvPr>
            <ns0:ph type="sldImg" idx="0"/>
          </ns0:nvPr>
        </ns0:nvSpPr>
        <ns0:spPr/>
      </ns0:sp>
      <ns0:sp>
        <ns0:nvSpPr>
          <ns0:cNvPr id="3" name="Notes Placeholder 2"/>
          <ns0:cNvSpPr>
            <ns1:spLocks noGrp="1"/>
          </ns0:cNvSpPr>
          <ns0:nvPr>
            <ns0:ph type="body" idx="1"/>
          </ns0:nvPr>
        </ns0:nvSpPr>
        <ns0:spPr/>
        <ns0:txBody>
          <ns1:bodyPr/>
          <ns1:lstStyle/>
          <ns1:p>
            <ns1:r>
              <ns1:t>Closing: invite the judge to change a private quote or rule, rebind the retained admitted method, inspect the attempt delta and verify the exact internally saved brief. Team skills are owner-provided, not claims of individual code contributions. Genuine team: Michał Jabłoński, Karol Krawczyk, Kamil Krawczyk, Viktoriia Vinnykova.</ns1:t>
            </ns1:r>
          </ns1:p>
          <ns1:p>
            <ns1:r>
              <ns1:t/>
            </ns1:r>
          </ns1:p>
          <ns1:p>
            <ns1:r>
              <ns1:t>Sources: TEAM.md; .planning/PROJECT.md; current proof and authentic browser observations</ns1:t>
            </ns1:r>
          </ns1:p>
          <ns1:p>
            <ns1:r>
              <ns1:t>Actual original proof date: 2026-10-04T01:29:53.383Z. New intention proof date: 2026-10-04T02:07:09.266Z. Delivered source revision: 2c3b380306f66243305ca50d77be178b1d0b46b6. Worksheet and result crops use the authenticated retained-run GET-only screenshot at 2026-10-04T05:37:55.215Z, run 360c040e-16a1-4f81-ac76-1e1ec4ef6195. The full screenshot SHA256 is 42e0ba98bbe1400677ee8f2c56ab56780ec8f68a98020287a15cc762cb5ed8cc, with app.js SHA256 506688ca6a8544d5fabecf7a12c62e9d65544809197ac6e7e716bd64e54017dc. The documentation-only F-05 follow-up changes README guidance. Code, tests and UI retain the previously checked source bytes. The latest GET-only screenshot is file- and pixel-identical to the earlier 04:59 capture. This current native UI inspection establishes no new model inference, private rebind, save or automated walkthrough. Actual original and intention proof dates above remain historical. The four automated walkthroughs and seven backup frames remain historical, with the latest walkthrough interval 2026-10-04T02:15:51.144Z to 2026-10-04T02:15:54.500Z and provisional UI hashes. Payload and controls remain later historical GET-only captures saved at 2026-10-04T02:24:32.962809Z and 2026-10-04T02:22:42.329586Z respectively. These are file-save times, not independently recorded exact capture timestamps. The 02:25 input assembly time is not a screenshot capture time. Comparison evidence remains separately dated. No new rehearsal occurred.</ns1:t>
            </ns1:r>
          </ns1:p>
          <ns1:p>
            <ns1:r>
              <ns1:t>Disclosure: Synthetic supplier-renewal prototype. Public objective/capability descriptions and transport metadata remain disclosed. Local host/employee access is trusted. Targets are potential outcomes, never achieved savings. Current package evidence does not establish production security or formal noninterference.</ns1:t>
            </ns1:r>
          </ns1:p>
        </ns0:txBody>
      </ns0:sp>
      <ns0:sp>
        <ns0:nvSpPr>
          <ns0:cNvPr id="4" name="Slide Number Placeholder 3"/>
          <ns0:cNvSpPr>
            <ns1:spLocks noGrp="1"/>
          </ns0:cNvSpPr>
          <ns0:nvPr>
            <ns0:ph type="sldNum" idx="5"/>
          </ns0:nvPr>
        </ns0:nvSpPr>
        <ns0:spPr/>
        <ns0:txBody>
          <ns1:bodyPr/>
          <ns1:lstStyle/>
          <ns1:p/>
        </ns0:txBody>
      </ns0:sp>
    </ns0:spTree>
  </ns0:cSld>
  <ns0:clrMapOvr>
    <ns1:masterClrMapping/>
  </ns0:clrMapOvr>
</ns0: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65902164b443a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e577984bf334a2c" /><Relationship Type="http://schemas.openxmlformats.org/officeDocument/2006/relationships/slideLayout" Target="/ppt/slideLayouts/slideLayout1.xml" Id="R3fe7b733624a438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fe7b733624a438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b51ae6e43f84eb6" /><Relationship Type="http://schemas.openxmlformats.org/officeDocument/2006/relationships/notesSlide" Target="/ppt/notesSlides/notesSlide1.xml" Id="R524e672e8f1b41f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b2cd53d61a54317" /><Relationship Type="http://schemas.openxmlformats.org/officeDocument/2006/relationships/image" Target="/ppt/media/image.png" Id="R10476de56bc745ef" /><Relationship Type="http://schemas.openxmlformats.org/officeDocument/2006/relationships/notesSlide" Target="/ppt/notesSlides/notesSlide2.xml" Id="Racbdab8f373049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1961d40b2b046ae" /><Relationship Type="http://schemas.openxmlformats.org/officeDocument/2006/relationships/notesSlide" Target="/ppt/notesSlides/notesSlide3.xml" Id="R971a116723514f2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8378fa797f44ec8" /><Relationship Type="http://schemas.openxmlformats.org/officeDocument/2006/relationships/image" Target="/ppt/media/image2.png" Id="Red62decfb6004173" /><Relationship Type="http://schemas.openxmlformats.org/officeDocument/2006/relationships/notesSlide" Target="/ppt/notesSlides/notesSlide4.xml" Id="R4d5bdfb52e3c456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a7ef8aa41834d3d" /><Relationship Type="http://schemas.openxmlformats.org/officeDocument/2006/relationships/notesSlide" Target="/ppt/notesSlides/notesSlide5.xml" Id="R5ad6843131d54ba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3dd6b8214a8453f" /><Relationship Type="http://schemas.openxmlformats.org/officeDocument/2006/relationships/image" Target="/ppt/media/image3.png" Id="R7b0a8290c55140d5" /><Relationship Type="http://schemas.openxmlformats.org/officeDocument/2006/relationships/notesSlide" Target="/ppt/notesSlides/notesSlide6.xml" Id="R8e049e0b2dbe468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82b76f9ca354b03" /><Relationship Type="http://schemas.openxmlformats.org/officeDocument/2006/relationships/image" Target="/ppt/media/image4.png" Id="R0db3369fe9574b4c" /><Relationship Type="http://schemas.openxmlformats.org/officeDocument/2006/relationships/notesSlide" Target="/ppt/notesSlides/notesSlide7.xml" Id="R6b7dbc59a41742b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9a11721a7f94cec" /><Relationship Type="http://schemas.openxmlformats.org/officeDocument/2006/relationships/notesSlide" Target="/ppt/notesSlides/notesSlide8.xml" Id="R51a1e987c0bb431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f3bcb21297c4099" /><Relationship Type="http://schemas.openxmlformats.org/officeDocument/2006/relationships/notesSlide" Target="/ppt/notesSlides/notesSlide9.xml" Id="R99831cb3f0ef4f12" /></Relationships>
</file>

<file path=ppt/slides/slide1.xml><?xml version="1.0" encoding="utf-8"?>
<p:sld xmlns:p="http://schemas.openxmlformats.org/presentationml/2006/main">
  <p:cSld>
    <p:bg>
      <p:bgPr>
        <a:solidFill xmlns:a="http://schemas.openxmlformats.org/drawingml/2006/main">
          <a:srgbClr val="102D3C"/>
        </a:solidFill>
      </p:bgPr>
    </p:bg>
    <p:spTree>
      <p:nvGrpSpPr>
        <p:cNvPr id="1" name=""/>
        <p:cNvGrpSpPr/>
        <p:nvPr/>
      </p:nvGrpSpPr>
      <p:grpSpPr>
        <a:xfrm xmlns:a="http://schemas.openxmlformats.org/drawingml/2006/main"/>
      </p:grpSpPr>
      <p:sp>
        <p:nvSpPr>
          <p:cNvPr id="4" name="text-1">
            <a:extLst xmlns:a="http://schemas.openxmlformats.org/drawingml/2006/main">
              <a:ext uri="{FF2B5EF4-FFF2-40B4-BE49-F238E27FC236}">
                <a16:creationId xmlns:a16="http://schemas.microsoft.com/office/drawing/2014/main" id="{1E2D10FB-46AF-47F1-AB82-869E06079FFA}"/>
              </a:ext>
            </a:extLst>
          </p:cNvPr>
          <p:cNvSpPr>
            <a:spLocks xmlns:a="http://schemas.openxmlformats.org/drawingml/2006/main" noGrp="1"/>
          </p:cNvSpPr>
          <p:nvPr/>
        </p:nvSpPr>
        <p:spPr>
          <a:xfrm xmlns:a="http://schemas.openxmlformats.org/drawingml/2006/main">
            <a:off x="609600" y="838200"/>
            <a:ext cx="109728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400" b="1">
                <a:solidFill>
                  <a:srgbClr val="FFFFFF"/>
                </a:solidFill>
                <a:latin typeface="Arial"/>
                <a:ea typeface="Arial"/>
                <a:cs typeface="Arial"/>
              </a:defRPr>
            </a:pPr>
            <a:r>
              <a:rPr sz="4400" b="1">
                <a:solidFill>
                  <a:srgbClr val="FFFFFF"/>
                </a:solidFill>
                <a:latin typeface="Arial"/>
                <a:ea typeface="Arial"/>
                <a:cs typeface="Arial"/>
              </a:rPr>
              <a:t>ProofGate: Public Plans, Private Results</a:t>
            </a:r>
          </a:p>
        </p:txBody>
      </p:sp>
      <p:sp>
        <p:nvSpPr>
          <p:cNvPr id="2" name="text-2">
            <a:extLst xmlns:a="http://schemas.openxmlformats.org/drawingml/2006/main">
              <a:ext uri="{FF2B5EF4-FFF2-40B4-BE49-F238E27FC236}">
                <a16:creationId xmlns:a16="http://schemas.microsoft.com/office/drawing/2014/main" id="{D05DFB97-D713-4363-9B0C-754AE7C08061}"/>
              </a:ext>
            </a:extLst>
          </p:cNvPr>
          <p:cNvSpPr>
            <a:spLocks xmlns:a="http://schemas.openxmlformats.org/drawingml/2006/main" noGrp="1"/>
          </p:cNvSpPr>
          <p:nvPr/>
        </p:nvSpPr>
        <p:spPr>
          <a:xfrm xmlns:a="http://schemas.openxmlformats.org/drawingml/2006/main">
            <a:off x="609600" y="3114675"/>
            <a:ext cx="10287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00" b="0">
                <a:solidFill>
                  <a:srgbClr val="FFFFFF"/>
                </a:solidFill>
                <a:latin typeface="Arial"/>
                <a:ea typeface="Arial"/>
                <a:cs typeface="Arial"/>
              </a:defRPr>
            </a:pPr>
            <a:r>
              <a:rPr sz="3200" b="0">
                <a:solidFill>
                  <a:srgbClr val="FFFFFF"/>
                </a:solidFill>
                <a:latin typeface="Arial"/>
                <a:ea typeface="Arial"/>
                <a:cs typeface="Arial"/>
              </a:rPr>
              <a:t>AI supplies the method.</a:t>
            </a:r>
          </a:p>
          <a:p xmlns:a="http://schemas.openxmlformats.org/drawingml/2006/main">
            <a:pPr algn="l">
              <a:defRPr sz="3200" b="0">
                <a:solidFill>
                  <a:srgbClr val="FFFFFF"/>
                </a:solidFill>
                <a:latin typeface="Arial"/>
                <a:ea typeface="Arial"/>
                <a:cs typeface="Arial"/>
              </a:defRPr>
            </a:pPr>
            <a:r>
              <a:rPr sz="3200" b="0">
                <a:solidFill>
                  <a:srgbClr val="FFFFFF"/>
                </a:solidFill>
                <a:latin typeface="Arial"/>
                <a:ea typeface="Arial"/>
                <a:cs typeface="Arial"/>
              </a:rPr>
              <a:t>The company keeps its know-how.</a:t>
            </a:r>
          </a:p>
        </p:txBody>
      </p:sp>
      <p:sp>
        <p:nvSpPr>
          <p:cNvPr id="3" name="text-3">
            <a:extLst xmlns:a="http://schemas.openxmlformats.org/drawingml/2006/main">
              <a:ext uri="{FF2B5EF4-FFF2-40B4-BE49-F238E27FC236}">
                <a16:creationId xmlns:a16="http://schemas.microsoft.com/office/drawing/2014/main" id="{3ADFC976-53CD-466B-97EE-259754102519}"/>
              </a:ext>
            </a:extLst>
          </p:cNvPr>
          <p:cNvSpPr>
            <a:spLocks xmlns:a="http://schemas.openxmlformats.org/drawingml/2006/main" noGrp="1"/>
          </p:cNvSpPr>
          <p:nvPr/>
        </p:nvSpPr>
        <p:spPr>
          <a:xfrm xmlns:a="http://schemas.openxmlformats.org/drawingml/2006/main">
            <a:off x="609600" y="5772150"/>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CBDDD5"/>
                </a:solidFill>
                <a:latin typeface="Arial"/>
                <a:ea typeface="Arial"/>
                <a:cs typeface="Arial"/>
              </a:defRPr>
            </a:pPr>
            <a:r>
              <a:rPr sz="1800" b="0">
                <a:solidFill>
                  <a:srgbClr val="CBDDD5"/>
                </a:solidFill>
                <a:latin typeface="Arial"/>
                <a:ea typeface="Arial"/>
                <a:cs typeface="Arial"/>
              </a:rPr>
              <a:t>Blind Workbench: supplier renewal with synthetic contracts</a:t>
            </a:r>
          </a:p>
        </p:txBody>
      </p:sp>
    </p:spTree>
    <p:extLst>
      <p:ext uri="{BB962C8B-B14F-4D97-AF65-F5344CB8AC3E}">
        <p14:creationId xmlns:p14="http://schemas.microsoft.com/office/powerpoint/2010/main" val="1962624870"/>
      </p:ext>
    </p:extLst>
  </p:cSld>
</p:sld>
</file>

<file path=ppt/slides/slide2.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6" name="text-4">
            <a:extLst xmlns:a="http://schemas.openxmlformats.org/drawingml/2006/main">
              <a:ext uri="{FF2B5EF4-FFF2-40B4-BE49-F238E27FC236}">
                <a16:creationId xmlns:a16="http://schemas.microsoft.com/office/drawing/2014/main" id="{DD6A185E-73A5-4CD5-B68B-2EE06A1B0FF0}"/>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Supplier renewal needs private know-how</a:t>
            </a:r>
          </a:p>
        </p:txBody>
      </p:sp>
      <p:sp>
        <p:nvSpPr>
          <p:cNvPr id="2" name="text-5">
            <a:extLst xmlns:a="http://schemas.openxmlformats.org/drawingml/2006/main">
              <a:ext uri="{FF2B5EF4-FFF2-40B4-BE49-F238E27FC236}">
                <a16:creationId xmlns:a16="http://schemas.microsoft.com/office/drawing/2014/main" id="{ABC08D22-6A61-4EE9-8D8D-78AF2A1C7DD7}"/>
              </a:ext>
            </a:extLst>
          </p:cNvPr>
          <p:cNvSpPr>
            <a:spLocks xmlns:a="http://schemas.openxmlformats.org/drawingml/2006/main" noGrp="1"/>
          </p:cNvSpPr>
          <p:nvPr/>
        </p:nvSpPr>
        <p:spPr>
          <a:xfrm xmlns:a="http://schemas.openxmlformats.org/drawingml/2006/main">
            <a:off x="609600" y="1762125"/>
            <a:ext cx="4476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00" b="1">
                <a:solidFill>
                  <a:srgbClr val="102D3C"/>
                </a:solidFill>
                <a:latin typeface="Arial"/>
                <a:ea typeface="Arial"/>
                <a:cs typeface="Arial"/>
              </a:defRPr>
            </a:pPr>
            <a:r>
              <a:rPr sz="2800" b="1">
                <a:solidFill>
                  <a:srgbClr val="102D3C"/>
                </a:solidFill>
                <a:latin typeface="Arial"/>
                <a:ea typeface="Arial"/>
                <a:cs typeface="Arial"/>
              </a:rPr>
              <a:t>The quote changes.</a:t>
            </a:r>
          </a:p>
          <a:p xmlns:a="http://schemas.openxmlformats.org/drawingml/2006/main">
            <a:pPr algn="l">
              <a:defRPr sz="2800" b="1">
                <a:solidFill>
                  <a:srgbClr val="102D3C"/>
                </a:solidFill>
                <a:latin typeface="Arial"/>
                <a:ea typeface="Arial"/>
                <a:cs typeface="Arial"/>
              </a:defRPr>
            </a:pPr>
            <a:r>
              <a:rPr sz="2800" b="1">
                <a:solidFill>
                  <a:srgbClr val="102D3C"/>
                </a:solidFill>
                <a:latin typeface="Arial"/>
                <a:ea typeface="Arial"/>
                <a:cs typeface="Arial"/>
              </a:rPr>
              <a:t>Private rules set</a:t>
            </a:r>
          </a:p>
          <a:p xmlns:a="http://schemas.openxmlformats.org/drawingml/2006/main">
            <a:pPr algn="l">
              <a:defRPr sz="2800" b="1">
                <a:solidFill>
                  <a:srgbClr val="102D3C"/>
                </a:solidFill>
                <a:latin typeface="Arial"/>
                <a:ea typeface="Arial"/>
                <a:cs typeface="Arial"/>
              </a:defRPr>
            </a:pPr>
            <a:r>
              <a:rPr sz="2800" b="1">
                <a:solidFill>
                  <a:srgbClr val="102D3C"/>
                </a:solidFill>
                <a:latin typeface="Arial"/>
                <a:ea typeface="Arial"/>
                <a:cs typeface="Arial"/>
              </a:rPr>
              <a:t>the negotiation target.</a:t>
            </a:r>
          </a:p>
        </p:txBody>
      </p:sp>
      <p:sp>
        <p:nvSpPr>
          <p:cNvPr id="3" name="text-6">
            <a:extLst xmlns:a="http://schemas.openxmlformats.org/drawingml/2006/main">
              <a:ext uri="{FF2B5EF4-FFF2-40B4-BE49-F238E27FC236}">
                <a16:creationId xmlns:a16="http://schemas.microsoft.com/office/drawing/2014/main" id="{7255AE5D-74FE-4EF0-8136-8A3C23BD5AB9}"/>
              </a:ext>
            </a:extLst>
          </p:cNvPr>
          <p:cNvSpPr>
            <a:spLocks xmlns:a="http://schemas.openxmlformats.org/drawingml/2006/main" noGrp="1"/>
          </p:cNvSpPr>
          <p:nvPr/>
        </p:nvSpPr>
        <p:spPr>
          <a:xfrm xmlns:a="http://schemas.openxmlformats.org/drawingml/2006/main">
            <a:off x="609600" y="4105275"/>
            <a:ext cx="43338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An employee needs a useful brief</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without giving a hosted model</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the contract register or rule bodies.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0476de56bc745ef"/>
          <a:stretch xmlns:a="http://schemas.openxmlformats.org/drawingml/2006/main"/>
        </p:blipFill>
        <p:spPr>
          <a:xfrm xmlns:a="http://schemas.openxmlformats.org/drawingml/2006/main">
            <a:off x="6229350" y="1504950"/>
            <a:ext cx="4953000" cy="4381500"/>
          </a:xfrm>
          <a:prstGeom xmlns:a="http://schemas.openxmlformats.org/drawingml/2006/main" prst="rect">
            <a:avLst/>
          </a:prstGeom>
        </p:spPr>
      </p:pic>
      <p:sp>
        <p:nvSpPr>
          <p:cNvPr id="5" name="text-7">
            <a:extLst xmlns:a="http://schemas.openxmlformats.org/drawingml/2006/main">
              <a:ext uri="{FF2B5EF4-FFF2-40B4-BE49-F238E27FC236}">
                <a16:creationId xmlns:a16="http://schemas.microsoft.com/office/drawing/2014/main" id="{DAFF725D-58C6-4D11-9024-93D5A9D2D7D5}"/>
              </a:ext>
            </a:extLst>
          </p:cNvPr>
          <p:cNvSpPr>
            <a:spLocks xmlns:a="http://schemas.openxmlformats.org/drawingml/2006/main" noGrp="1"/>
          </p:cNvSpPr>
          <p:nvPr/>
        </p:nvSpPr>
        <p:spPr>
          <a:xfrm xmlns:a="http://schemas.openxmlformats.org/drawingml/2006/main">
            <a:off x="609600" y="6105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Synthetic contracts. Negotiation targets are potential outcomes.</a:t>
            </a:r>
          </a:p>
        </p:txBody>
      </p:sp>
    </p:spTree>
    <p:extLst>
      <p:ext uri="{BB962C8B-B14F-4D97-AF65-F5344CB8AC3E}">
        <p14:creationId xmlns:p14="http://schemas.microsoft.com/office/powerpoint/2010/main" val="375819350"/>
      </p:ext>
    </p:extLst>
  </p:cSld>
</p:sld>
</file>

<file path=ppt/slides/slide3.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7" name="text-8">
            <a:extLst xmlns:a="http://schemas.openxmlformats.org/drawingml/2006/main">
              <a:ext uri="{FF2B5EF4-FFF2-40B4-BE49-F238E27FC236}">
                <a16:creationId xmlns:a16="http://schemas.microsoft.com/office/drawing/2014/main" id="{E09B3A59-783D-433A-BE34-78496D466125}"/>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An employee intention changes the method</a:t>
            </a:r>
          </a:p>
        </p:txBody>
      </p:sp>
      <p:sp>
        <p:nvSpPr>
          <p:cNvPr id="2" name="text-9">
            <a:extLst xmlns:a="http://schemas.openxmlformats.org/drawingml/2006/main">
              <a:ext uri="{FF2B5EF4-FFF2-40B4-BE49-F238E27FC236}">
                <a16:creationId xmlns:a16="http://schemas.microsoft.com/office/drawing/2014/main" id="{E7A0418E-5ED2-4F12-94EA-A6A960587A2C}"/>
              </a:ext>
            </a:extLst>
          </p:cNvPr>
          <p:cNvSpPr>
            <a:spLocks xmlns:a="http://schemas.openxmlformats.org/drawingml/2006/main" noGrp="1"/>
          </p:cNvSpPr>
          <p:nvPr/>
        </p:nvSpPr>
        <p:spPr>
          <a:xfrm xmlns:a="http://schemas.openxmlformats.org/drawingml/2006/main">
            <a:off x="609600" y="1619250"/>
            <a:ext cx="53530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00" b="1">
                <a:solidFill>
                  <a:srgbClr val="102D3C"/>
                </a:solidFill>
                <a:latin typeface="Arial"/>
                <a:ea typeface="Arial"/>
                <a:cs typeface="Arial"/>
              </a:defRPr>
            </a:pPr>
            <a:r>
              <a:rPr sz="2600" b="1">
                <a:solidFill>
                  <a:srgbClr val="102D3C"/>
                </a:solidFill>
                <a:latin typeface="Arial"/>
                <a:ea typeface="Arial"/>
                <a:cs typeface="Arial"/>
              </a:rPr>
              <a:t>Within the next 60 days,</a:t>
            </a:r>
          </a:p>
          <a:p xmlns:a="http://schemas.openxmlformats.org/drawingml/2006/main">
            <a:pPr algn="l">
              <a:defRPr sz="2600" b="1">
                <a:solidFill>
                  <a:srgbClr val="102D3C"/>
                </a:solidFill>
                <a:latin typeface="Arial"/>
                <a:ea typeface="Arial"/>
                <a:cs typeface="Arial"/>
              </a:defRPr>
            </a:pPr>
            <a:r>
              <a:rPr sz="2600" b="1">
                <a:solidFill>
                  <a:srgbClr val="102D3C"/>
                </a:solidFill>
                <a:latin typeface="Arial"/>
                <a:ea typeface="Arial"/>
                <a:cs typeface="Arial"/>
              </a:rPr>
              <a:t>prepare at most two renewals,</a:t>
            </a:r>
          </a:p>
          <a:p xmlns:a="http://schemas.openxmlformats.org/drawingml/2006/main">
            <a:pPr algn="l">
              <a:defRPr sz="2600" b="1">
                <a:solidFill>
                  <a:srgbClr val="102D3C"/>
                </a:solidFill>
                <a:latin typeface="Arial"/>
                <a:ea typeface="Arial"/>
                <a:cs typeface="Arial"/>
              </a:defRPr>
            </a:pPr>
            <a:r>
              <a:rPr sz="2600" b="1">
                <a:solidFill>
                  <a:srgbClr val="102D3C"/>
                </a:solidFill>
                <a:latin typeface="Arial"/>
                <a:ea typeface="Arial"/>
                <a:cs typeface="Arial"/>
              </a:rPr>
              <a:t>earliest renewals first.</a:t>
            </a:r>
          </a:p>
        </p:txBody>
      </p:sp>
      <p:sp>
        <p:nvSpPr>
          <p:cNvPr id="3" name="text-10">
            <a:extLst xmlns:a="http://schemas.openxmlformats.org/drawingml/2006/main">
              <a:ext uri="{FF2B5EF4-FFF2-40B4-BE49-F238E27FC236}">
                <a16:creationId xmlns:a16="http://schemas.microsoft.com/office/drawing/2014/main" id="{31FB3911-390A-41C1-B234-902571FFA07F}"/>
              </a:ext>
            </a:extLst>
          </p:cNvPr>
          <p:cNvSpPr>
            <a:spLocks xmlns:a="http://schemas.openxmlformats.org/drawingml/2006/main" noGrp="1"/>
          </p:cNvSpPr>
          <p:nvPr/>
        </p:nvSpPr>
        <p:spPr>
          <a:xfrm xmlns:a="http://schemas.openxmlformats.org/drawingml/2006/main">
            <a:off x="609600" y="3714750"/>
            <a:ext cx="52197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00" b="1">
                <a:solidFill>
                  <a:srgbClr val="2D6B51"/>
                </a:solidFill>
                <a:latin typeface="Arial"/>
                <a:ea typeface="Arial"/>
                <a:cs typeface="Arial"/>
              </a:defRPr>
            </a:pPr>
            <a:r>
              <a:rPr sz="2300" b="1">
                <a:solidFill>
                  <a:srgbClr val="2D6B51"/>
                </a:solidFill>
                <a:latin typeface="Arial"/>
                <a:ea typeface="Arial"/>
                <a:cs typeface="Arial"/>
              </a:rPr>
              <a:t>Actual AI choices</a:t>
            </a:r>
          </a:p>
          <a:p xmlns:a="http://schemas.openxmlformats.org/drawingml/2006/main">
            <a:pPr algn="l">
              <a:defRPr sz="2300" b="1">
                <a:solidFill>
                  <a:srgbClr val="2D6B51"/>
                </a:solidFill>
                <a:latin typeface="Arial"/>
                <a:ea typeface="Arial"/>
                <a:cs typeface="Arial"/>
              </a:defRPr>
            </a:pPr>
            <a:r>
              <a:rPr sz="2300" b="1">
                <a:solidFill>
                  <a:srgbClr val="2D6B51"/>
                </a:solidFill>
                <a:latin typeface="Arial"/>
                <a:ea typeface="Arial"/>
                <a:cs typeface="Arial"/>
              </a:rPr>
              <a:t>60-day window</a:t>
            </a:r>
          </a:p>
          <a:p xmlns:a="http://schemas.openxmlformats.org/drawingml/2006/main">
            <a:pPr algn="l">
              <a:defRPr sz="2300" b="1">
                <a:solidFill>
                  <a:srgbClr val="2D6B51"/>
                </a:solidFill>
                <a:latin typeface="Arial"/>
                <a:ea typeface="Arial"/>
                <a:cs typeface="Arial"/>
              </a:defRPr>
            </a:pPr>
            <a:r>
              <a:rPr sz="2300" b="1">
                <a:solidFill>
                  <a:srgbClr val="2D6B51"/>
                </a:solidFill>
                <a:latin typeface="Arial"/>
                <a:ea typeface="Arial"/>
                <a:cs typeface="Arial"/>
              </a:rPr>
              <a:t>Earliest renewal first</a:t>
            </a:r>
          </a:p>
          <a:p xmlns:a="http://schemas.openxmlformats.org/drawingml/2006/main">
            <a:pPr algn="l">
              <a:defRPr sz="2300" b="1">
                <a:solidFill>
                  <a:srgbClr val="2D6B51"/>
                </a:solidFill>
                <a:latin typeface="Arial"/>
                <a:ea typeface="Arial"/>
                <a:cs typeface="Arial"/>
              </a:defRPr>
            </a:pPr>
            <a:r>
              <a:rPr sz="2300" b="1">
                <a:solidFill>
                  <a:srgbClr val="2D6B51"/>
                </a:solidFill>
                <a:latin typeface="Arial"/>
                <a:ea typeface="Arial"/>
                <a:cs typeface="Arial"/>
              </a:rPr>
              <a:t>At most 2 renewals</a:t>
            </a:r>
          </a:p>
        </p:txBody>
      </p:sp>
      <p:sp>
        <p:nvSpPr>
          <p:cNvPr id="4" name="text-11">
            <a:extLst xmlns:a="http://schemas.openxmlformats.org/drawingml/2006/main">
              <a:ext uri="{FF2B5EF4-FFF2-40B4-BE49-F238E27FC236}">
                <a16:creationId xmlns:a16="http://schemas.microsoft.com/office/drawing/2014/main" id="{2C39A541-C6A7-441A-900E-6C8347FDCBFD}"/>
              </a:ext>
            </a:extLst>
          </p:cNvPr>
          <p:cNvSpPr>
            <a:spLocks xmlns:a="http://schemas.openxmlformats.org/drawingml/2006/main" noGrp="1"/>
          </p:cNvSpPr>
          <p:nvPr/>
        </p:nvSpPr>
        <p:spPr>
          <a:xfrm xmlns:a="http://schemas.openxmlformats.org/drawingml/2006/main">
            <a:off x="6438900" y="1571625"/>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D6B51"/>
                </a:solidFill>
                <a:latin typeface="Arial"/>
                <a:ea typeface="Arial"/>
                <a:cs typeface="Arial"/>
              </a:defRPr>
            </a:pPr>
            <a:r>
              <a:rPr sz="2400" b="1">
                <a:solidFill>
                  <a:srgbClr val="2D6B51"/>
                </a:solidFill>
                <a:latin typeface="Arial"/>
                <a:ea typeface="Arial"/>
                <a:cs typeface="Arial"/>
              </a:rPr>
              <a:t>Admitted operation method</a:t>
            </a:r>
          </a:p>
        </p:txBody>
      </p:sp>
      <p:sp>
        <p:nvSpPr>
          <p:cNvPr id="5" name="text-12">
            <a:extLst xmlns:a="http://schemas.openxmlformats.org/drawingml/2006/main">
              <a:ext uri="{FF2B5EF4-FFF2-40B4-BE49-F238E27FC236}">
                <a16:creationId xmlns:a16="http://schemas.microsoft.com/office/drawing/2014/main" id="{7B57A12C-CDF6-4A7D-82A1-F80E480181E1}"/>
              </a:ext>
            </a:extLst>
          </p:cNvPr>
          <p:cNvSpPr>
            <a:spLocks xmlns:a="http://schemas.openxmlformats.org/drawingml/2006/main" noGrp="1"/>
          </p:cNvSpPr>
          <p:nvPr/>
        </p:nvSpPr>
        <p:spPr>
          <a:xfrm xmlns:a="http://schemas.openxmlformats.org/drawingml/2006/main">
            <a:off x="6438900" y="2219325"/>
            <a:ext cx="514350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1. Select renewals within 60 days</a:t>
            </a:r>
          </a:p>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2. Apply private price ceiling</a:t>
            </a:r>
          </a:p>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3. Rank by renewal date</a:t>
            </a:r>
          </a:p>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4. Keep 2 renewals</a:t>
            </a:r>
          </a:p>
          <a:p xmlns:a="http://schemas.openxmlformats.org/drawingml/2006/main">
            <a:pPr algn="l">
              <a:defRPr sz="2200" b="0">
                <a:solidFill>
                  <a:srgbClr val="102D3C"/>
                </a:solidFill>
                <a:latin typeface="Arial"/>
                <a:ea typeface="Arial"/>
                <a:cs typeface="Arial"/>
              </a:defRPr>
            </a:pPr>
            <a:r>
              <a:rPr sz="2200" b="0">
                <a:solidFill>
                  <a:srgbClr val="102D3C"/>
                </a:solidFill>
                <a:latin typeface="Arial"/>
                <a:ea typeface="Arial"/>
                <a:cs typeface="Arial"/>
              </a:rPr>
              <a:t>5. Render the negotiation brief</a:t>
            </a:r>
          </a:p>
        </p:txBody>
      </p:sp>
      <p:sp>
        <p:nvSpPr>
          <p:cNvPr id="6" name="text-13">
            <a:extLst xmlns:a="http://schemas.openxmlformats.org/drawingml/2006/main">
              <a:ext uri="{FF2B5EF4-FFF2-40B4-BE49-F238E27FC236}">
                <a16:creationId xmlns:a16="http://schemas.microsoft.com/office/drawing/2014/main" id="{030F9EE0-A7BC-4DCC-A02B-ED309988DA75}"/>
              </a:ext>
            </a:extLst>
          </p:cNvPr>
          <p:cNvSpPr>
            <a:spLocks xmlns:a="http://schemas.openxmlformats.org/drawingml/2006/main" noGrp="1"/>
          </p:cNvSpPr>
          <p:nvPr/>
        </p:nvSpPr>
        <p:spPr>
          <a:xfrm xmlns:a="http://schemas.openxmlformats.org/drawingml/2006/main">
            <a:off x="609600" y="6010275"/>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465960"/>
                </a:solidFill>
                <a:latin typeface="Arial"/>
                <a:ea typeface="Arial"/>
                <a:cs typeface="Arial"/>
              </a:defRPr>
            </a:pPr>
            <a:r>
              <a:rPr sz="1800" b="0">
                <a:solidFill>
                  <a:srgbClr val="465960"/>
                </a:solidFill>
                <a:latin typeface="Arial"/>
                <a:ea typeface="Arial"/>
                <a:cs typeface="Arial"/>
              </a:rPr>
              <a:t>One previously unprepared public intention. Company records and rule bodies remain local.</a:t>
            </a:r>
          </a:p>
        </p:txBody>
      </p:sp>
    </p:spTree>
    <p:extLst>
      <p:ext uri="{BB962C8B-B14F-4D97-AF65-F5344CB8AC3E}">
        <p14:creationId xmlns:p14="http://schemas.microsoft.com/office/powerpoint/2010/main" val="1804878353"/>
      </p:ext>
    </p:extLst>
  </p:cSld>
</p:sld>
</file>

<file path=ppt/slides/slide4.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text-14">
            <a:extLst xmlns:a="http://schemas.openxmlformats.org/drawingml/2006/main">
              <a:ext uri="{FF2B5EF4-FFF2-40B4-BE49-F238E27FC236}">
                <a16:creationId xmlns:a16="http://schemas.microsoft.com/office/drawing/2014/main" id="{1BDEB49F-5766-4513-BFC2-D08221299003}"/>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A private change changes the useful brief</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ed62decfb6004173"/>
          <a:stretch xmlns:a="http://schemas.openxmlformats.org/drawingml/2006/main"/>
        </p:blipFill>
        <p:spPr>
          <a:xfrm xmlns:a="http://schemas.openxmlformats.org/drawingml/2006/main">
            <a:off x="1699644" y="1714500"/>
            <a:ext cx="2772912" cy="3952875"/>
          </a:xfrm>
          <a:prstGeom xmlns:a="http://schemas.openxmlformats.org/drawingml/2006/main" prst="rect">
            <a:avLst/>
          </a:prstGeom>
        </p:spPr>
      </p:pic>
      <p:sp>
        <p:nvSpPr>
          <p:cNvPr id="3" name="text-15">
            <a:extLst xmlns:a="http://schemas.openxmlformats.org/drawingml/2006/main">
              <a:ext uri="{FF2B5EF4-FFF2-40B4-BE49-F238E27FC236}">
                <a16:creationId xmlns:a16="http://schemas.microsoft.com/office/drawing/2014/main" id="{EF4D16B4-BA18-42F5-9455-7A7DB7D3852D}"/>
              </a:ext>
            </a:extLst>
          </p:cNvPr>
          <p:cNvSpPr>
            <a:spLocks xmlns:a="http://schemas.openxmlformats.org/drawingml/2006/main" noGrp="1"/>
          </p:cNvSpPr>
          <p:nvPr/>
        </p:nvSpPr>
        <p:spPr>
          <a:xfrm xmlns:a="http://schemas.openxmlformats.org/drawingml/2006/main">
            <a:off x="5734050" y="1752600"/>
            <a:ext cx="34766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00" b="1">
                <a:solidFill>
                  <a:srgbClr val="2D6B51"/>
                </a:solidFill>
                <a:latin typeface="Arial"/>
                <a:ea typeface="Arial"/>
                <a:cs typeface="Arial"/>
              </a:defRPr>
            </a:pPr>
            <a:r>
              <a:rPr sz="2800" b="1">
                <a:solidFill>
                  <a:srgbClr val="2D6B51"/>
                </a:solidFill>
                <a:latin typeface="Arial"/>
                <a:ea typeface="Arial"/>
                <a:cs typeface="Arial"/>
              </a:rPr>
              <a:t>$130</a:t>
            </a:r>
          </a:p>
          <a:p xmlns:a="http://schemas.openxmlformats.org/drawingml/2006/main">
            <a:pPr algn="l">
              <a:defRPr sz="2800" b="1">
                <a:solidFill>
                  <a:srgbClr val="2D6B51"/>
                </a:solidFill>
                <a:latin typeface="Arial"/>
                <a:ea typeface="Arial"/>
                <a:cs typeface="Arial"/>
              </a:defRPr>
            </a:pPr>
            <a:r>
              <a:rPr sz="2800" b="1">
                <a:solidFill>
                  <a:srgbClr val="2D6B51"/>
                </a:solidFill>
                <a:latin typeface="Arial"/>
                <a:ea typeface="Arial"/>
                <a:cs typeface="Arial"/>
              </a:rPr>
              <a:t>to $1,060</a:t>
            </a:r>
          </a:p>
        </p:txBody>
      </p:sp>
      <p:sp>
        <p:nvSpPr>
          <p:cNvPr id="4" name="text-16">
            <a:extLst xmlns:a="http://schemas.openxmlformats.org/drawingml/2006/main">
              <a:ext uri="{FF2B5EF4-FFF2-40B4-BE49-F238E27FC236}">
                <a16:creationId xmlns:a16="http://schemas.microsoft.com/office/drawing/2014/main" id="{D62106CE-B383-446A-9850-B4C64828F395}"/>
              </a:ext>
            </a:extLst>
          </p:cNvPr>
          <p:cNvSpPr>
            <a:spLocks xmlns:a="http://schemas.openxmlformats.org/drawingml/2006/main" noGrp="1"/>
          </p:cNvSpPr>
          <p:nvPr/>
        </p:nvSpPr>
        <p:spPr>
          <a:xfrm xmlns:a="http://schemas.openxmlformats.org/drawingml/2006/main">
            <a:off x="5734050" y="3333750"/>
            <a:ext cx="338137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Potential annual savings</a:t>
            </a:r>
          </a:p>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Private quotes and rule change</a:t>
            </a:r>
          </a:p>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Near + Middle</a:t>
            </a:r>
          </a:p>
          <a:p xmlns:a="http://schemas.openxmlformats.org/drawingml/2006/main">
            <a:pPr algn="l">
              <a:defRPr sz="2100" b="0">
                <a:solidFill>
                  <a:srgbClr val="102D3C"/>
                </a:solidFill>
                <a:latin typeface="Arial"/>
                <a:ea typeface="Arial"/>
                <a:cs typeface="Arial"/>
              </a:defRPr>
            </a:pPr>
            <a:r>
              <a:rPr sz="2100" b="0">
                <a:solidFill>
                  <a:srgbClr val="102D3C"/>
                </a:solidFill>
                <a:latin typeface="Arial"/>
                <a:ea typeface="Arial"/>
                <a:cs typeface="Arial"/>
              </a:rPr>
              <a:t>to Middle + Large</a:t>
            </a:r>
          </a:p>
        </p:txBody>
      </p:sp>
      <p:sp>
        <p:nvSpPr>
          <p:cNvPr id="5" name="text-17">
            <a:extLst xmlns:a="http://schemas.openxmlformats.org/drawingml/2006/main">
              <a:ext uri="{FF2B5EF4-FFF2-40B4-BE49-F238E27FC236}">
                <a16:creationId xmlns:a16="http://schemas.microsoft.com/office/drawing/2014/main" id="{F8C4720E-2C2A-4ED0-99B9-A3019A61CAAF}"/>
              </a:ext>
            </a:extLst>
          </p:cNvPr>
          <p:cNvSpPr>
            <a:spLocks xmlns:a="http://schemas.openxmlformats.org/drawingml/2006/main" noGrp="1"/>
          </p:cNvSpPr>
          <p:nvPr/>
        </p:nvSpPr>
        <p:spPr>
          <a:xfrm xmlns:a="http://schemas.openxmlformats.org/drawingml/2006/main">
            <a:off x="5734050" y="5162550"/>
            <a:ext cx="338137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Same admitted actual method</a:t>
            </a:r>
          </a:p>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New-intention proof, local rebind</a:t>
            </a:r>
          </a:p>
        </p:txBody>
      </p:sp>
      <p:sp>
        <p:nvSpPr>
          <p:cNvPr id="6" name="text-18">
            <a:extLst xmlns:a="http://schemas.openxmlformats.org/drawingml/2006/main">
              <a:ext uri="{FF2B5EF4-FFF2-40B4-BE49-F238E27FC236}">
                <a16:creationId xmlns:a16="http://schemas.microsoft.com/office/drawing/2014/main" id="{D72D954C-7865-4051-8FAD-45C4519D5288}"/>
              </a:ext>
            </a:extLst>
          </p:cNvPr>
          <p:cNvSpPr>
            <a:spLocks xmlns:a="http://schemas.openxmlformats.org/drawingml/2006/main" noGrp="1"/>
          </p:cNvSpPr>
          <p:nvPr/>
        </p:nvSpPr>
        <p:spPr>
          <a:xfrm xmlns:a="http://schemas.openxmlformats.org/drawingml/2006/main">
            <a:off x="9525000" y="1666875"/>
            <a:ext cx="2057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200" b="1">
                <a:solidFill>
                  <a:srgbClr val="2D6B51"/>
                </a:solidFill>
                <a:latin typeface="Arial"/>
                <a:ea typeface="Arial"/>
                <a:cs typeface="Arial"/>
              </a:defRPr>
            </a:pPr>
            <a:r>
              <a:rPr sz="6200" b="1">
                <a:solidFill>
                  <a:srgbClr val="2D6B51"/>
                </a:solidFill>
                <a:latin typeface="Arial"/>
                <a:ea typeface="Arial"/>
                <a:cs typeface="Arial"/>
              </a:rPr>
              <a:t>0</a:t>
            </a:r>
          </a:p>
        </p:txBody>
      </p:sp>
      <p:sp>
        <p:nvSpPr>
          <p:cNvPr id="7" name="text-19">
            <a:extLst xmlns:a="http://schemas.openxmlformats.org/drawingml/2006/main">
              <a:ext uri="{FF2B5EF4-FFF2-40B4-BE49-F238E27FC236}">
                <a16:creationId xmlns:a16="http://schemas.microsoft.com/office/drawing/2014/main" id="{49C61D42-77C6-4B2B-91C5-707804228B02}"/>
              </a:ext>
            </a:extLst>
          </p:cNvPr>
          <p:cNvSpPr>
            <a:spLocks xmlns:a="http://schemas.openxmlformats.org/drawingml/2006/main" noGrp="1"/>
          </p:cNvSpPr>
          <p:nvPr/>
        </p:nvSpPr>
        <p:spPr>
          <a:xfrm xmlns:a="http://schemas.openxmlformats.org/drawingml/2006/main">
            <a:off x="9544050" y="2924175"/>
            <a:ext cx="20383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D3C"/>
                </a:solidFill>
                <a:latin typeface="Arial"/>
                <a:ea typeface="Arial"/>
                <a:cs typeface="Arial"/>
              </a:defRPr>
            </a:pPr>
            <a:r>
              <a:rPr sz="1800" b="1">
                <a:solidFill>
                  <a:srgbClr val="102D3C"/>
                </a:solidFill>
                <a:latin typeface="Arial"/>
                <a:ea typeface="Arial"/>
                <a:cs typeface="Arial"/>
              </a:rPr>
              <a:t>new provider attempts</a:t>
            </a:r>
          </a:p>
          <a:p xmlns:a="http://schemas.openxmlformats.org/drawingml/2006/main">
            <a:pPr algn="l">
              <a:defRPr sz="1800" b="1">
                <a:solidFill>
                  <a:srgbClr val="102D3C"/>
                </a:solidFill>
                <a:latin typeface="Arial"/>
                <a:ea typeface="Arial"/>
                <a:cs typeface="Arial"/>
              </a:defRPr>
            </a:pPr>
            <a:r>
              <a:rPr sz="1800" b="1">
                <a:solidFill>
                  <a:srgbClr val="102D3C"/>
                </a:solidFill>
                <a:latin typeface="Arial"/>
                <a:ea typeface="Arial"/>
                <a:cs typeface="Arial"/>
              </a:rPr>
              <a:t>in the local rebind</a:t>
            </a:r>
          </a:p>
        </p:txBody>
      </p:sp>
      <p:sp>
        <p:nvSpPr>
          <p:cNvPr id="8" name="text-20">
            <a:extLst xmlns:a="http://schemas.openxmlformats.org/drawingml/2006/main">
              <a:ext uri="{FF2B5EF4-FFF2-40B4-BE49-F238E27FC236}">
                <a16:creationId xmlns:a16="http://schemas.microsoft.com/office/drawing/2014/main" id="{E5A42D3E-71B8-4ADF-8477-49FAE62C612B}"/>
              </a:ext>
            </a:extLst>
          </p:cNvPr>
          <p:cNvSpPr>
            <a:spLocks xmlns:a="http://schemas.openxmlformats.org/drawingml/2006/main" noGrp="1"/>
          </p:cNvSpPr>
          <p:nvPr/>
        </p:nvSpPr>
        <p:spPr>
          <a:xfrm xmlns:a="http://schemas.openxmlformats.org/drawingml/2006/main">
            <a:off x="9544050" y="4829175"/>
            <a:ext cx="20383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1">
                <a:solidFill>
                  <a:srgbClr val="102D3C"/>
                </a:solidFill>
                <a:latin typeface="Arial"/>
                <a:ea typeface="Arial"/>
                <a:cs typeface="Arial"/>
              </a:defRPr>
            </a:pPr>
            <a:r>
              <a:rPr sz="2000" b="1">
                <a:solidFill>
                  <a:srgbClr val="102D3C"/>
                </a:solidFill>
                <a:latin typeface="Arial"/>
                <a:ea typeface="Arial"/>
                <a:cs typeface="Arial"/>
              </a:rPr>
              <a:t>Changed brief</a:t>
            </a:r>
          </a:p>
          <a:p xmlns:a="http://schemas.openxmlformats.org/drawingml/2006/main">
            <a:pPr algn="l">
              <a:defRPr sz="2000" b="1">
                <a:solidFill>
                  <a:srgbClr val="102D3C"/>
                </a:solidFill>
                <a:latin typeface="Arial"/>
                <a:ea typeface="Arial"/>
                <a:cs typeface="Arial"/>
              </a:defRPr>
            </a:pPr>
            <a:r>
              <a:rPr sz="2000" b="1">
                <a:solidFill>
                  <a:srgbClr val="102D3C"/>
                </a:solidFill>
                <a:latin typeface="Arial"/>
                <a:ea typeface="Arial"/>
                <a:cs typeface="Arial"/>
              </a:rPr>
              <a:t>Same method</a:t>
            </a:r>
          </a:p>
        </p:txBody>
      </p:sp>
      <p:sp>
        <p:nvSpPr>
          <p:cNvPr id="9" name="text-21">
            <a:extLst xmlns:a="http://schemas.openxmlformats.org/drawingml/2006/main">
              <a:ext uri="{FF2B5EF4-FFF2-40B4-BE49-F238E27FC236}">
                <a16:creationId xmlns:a16="http://schemas.microsoft.com/office/drawing/2014/main" id="{0C01E2DE-0C23-4BDC-8FDC-B085C6EC48FA}"/>
              </a:ext>
            </a:extLst>
          </p:cNvPr>
          <p:cNvSpPr>
            <a:spLocks xmlns:a="http://schemas.openxmlformats.org/drawingml/2006/main" noGrp="1"/>
          </p:cNvSpPr>
          <p:nvPr/>
        </p:nvSpPr>
        <p:spPr>
          <a:xfrm xmlns:a="http://schemas.openxmlformats.org/drawingml/2006/main">
            <a:off x="609600" y="60864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465960"/>
                </a:solidFill>
                <a:latin typeface="Arial"/>
                <a:ea typeface="Arial"/>
                <a:cs typeface="Arial"/>
              </a:defRPr>
            </a:pPr>
            <a:r>
              <a:rPr sz="1800" b="0">
                <a:solidFill>
                  <a:srgbClr val="465960"/>
                </a:solidFill>
                <a:latin typeface="Arial"/>
                <a:ea typeface="Arial"/>
                <a:cs typeface="Arial"/>
              </a:rPr>
              <a:t>The private quote or rule changes locally. The admitted AI method stays the same.</a:t>
            </a:r>
          </a:p>
        </p:txBody>
      </p:sp>
    </p:spTree>
    <p:extLst>
      <p:ext uri="{BB962C8B-B14F-4D97-AF65-F5344CB8AC3E}">
        <p14:creationId xmlns:p14="http://schemas.microsoft.com/office/powerpoint/2010/main" val="1439797327"/>
      </p:ext>
    </p:extLst>
  </p:cSld>
</p:sld>
</file>

<file path=ppt/slides/slide5.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6" name="text-22">
            <a:extLst xmlns:a="http://schemas.openxmlformats.org/drawingml/2006/main">
              <a:ext uri="{FF2B5EF4-FFF2-40B4-BE49-F238E27FC236}">
                <a16:creationId xmlns:a16="http://schemas.microsoft.com/office/drawing/2014/main" id="{84275AFB-FD78-407E-9CAA-F571996E8E0D}"/>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Public AI method, local private execution</a:t>
            </a:r>
          </a:p>
        </p:txBody>
      </p:sp>
      <p:sp>
        <p:nvSpPr>
          <p:cNvPr id="2" name="text-23">
            <a:extLst xmlns:a="http://schemas.openxmlformats.org/drawingml/2006/main">
              <a:ext uri="{FF2B5EF4-FFF2-40B4-BE49-F238E27FC236}">
                <a16:creationId xmlns:a16="http://schemas.microsoft.com/office/drawing/2014/main" id="{EB65C0F9-CC90-4692-A17E-B495AE737782}"/>
              </a:ext>
            </a:extLst>
          </p:cNvPr>
          <p:cNvSpPr>
            <a:spLocks xmlns:a="http://schemas.openxmlformats.org/drawingml/2006/main" noGrp="1"/>
          </p:cNvSpPr>
          <p:nvPr/>
        </p:nvSpPr>
        <p:spPr>
          <a:xfrm xmlns:a="http://schemas.openxmlformats.org/drawingml/2006/main">
            <a:off x="609600" y="15049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1">
                <a:solidFill>
                  <a:srgbClr val="2D6B51"/>
                </a:solidFill>
                <a:latin typeface="Arial"/>
                <a:ea typeface="Arial"/>
                <a:cs typeface="Arial"/>
              </a:defRPr>
            </a:pPr>
            <a:r>
              <a:rPr sz="1700" b="1">
                <a:solidFill>
                  <a:srgbClr val="2D6B51"/>
                </a:solidFill>
                <a:latin typeface="Arial"/>
                <a:ea typeface="Arial"/>
                <a:cs typeface="Arial"/>
              </a:rPr>
              <a:t>HOSTED MODELS RECEIVE APPROVED PUBLIC INPUTS</a:t>
            </a:r>
          </a:p>
        </p:txBody>
      </p:sp>
      <p:sp>
        <p:nvSpPr>
          <p:cNvPr id="3" name="mechanism-24">
            <a:extLst xmlns:a="http://schemas.openxmlformats.org/drawingml/2006/main">
              <a:ext uri="{FF2B5EF4-FFF2-40B4-BE49-F238E27FC236}">
                <a16:creationId xmlns:a16="http://schemas.microsoft.com/office/drawing/2014/main" id="{346A5E85-A115-4BA7-8479-EC75733E6F1D}"/>
              </a:ext>
            </a:extLst>
          </p:cNvPr>
          <p:cNvSpPr>
            <a:spLocks xmlns:a="http://schemas.openxmlformats.org/drawingml/2006/main" noGrp="1"/>
          </p:cNvSpPr>
          <p:nvPr/>
        </p:nvSpPr>
        <p:spPr>
          <a:xfrm xmlns:a="http://schemas.openxmlformats.org/drawingml/2006/main">
            <a:off x="609600" y="2076450"/>
            <a:ext cx="1981200" cy="1009650"/>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Public objective</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and capabilities</a:t>
            </a:r>
          </a:p>
        </p:txBody>
      </p:sp>
      <p:sp>
        <p:nvSpPr>
          <p:cNvPr id="4" name="mechanism-25">
            <a:extLst xmlns:a="http://schemas.openxmlformats.org/drawingml/2006/main">
              <a:ext uri="{FF2B5EF4-FFF2-40B4-BE49-F238E27FC236}">
                <a16:creationId xmlns:a16="http://schemas.microsoft.com/office/drawing/2014/main" id="{0F069B24-F7F1-465B-8AF5-00E783AE7C3A}"/>
              </a:ext>
            </a:extLst>
          </p:cNvPr>
          <p:cNvSpPr>
            <a:spLocks xmlns:a="http://schemas.openxmlformats.org/drawingml/2006/main" noGrp="1"/>
          </p:cNvSpPr>
          <p:nvPr/>
        </p:nvSpPr>
        <p:spPr>
          <a:xfrm xmlns:a="http://schemas.openxmlformats.org/drawingml/2006/main">
            <a:off x="3057525" y="1962150"/>
            <a:ext cx="2295525" cy="1238250"/>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Advisory checker</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AI planner</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Recipe checker</a:t>
            </a:r>
          </a:p>
        </p:txBody>
      </p:sp>
      <p:sp>
        <p:nvSpPr>
          <p:cNvPr id="5" name="mechanism-26">
            <a:extLst xmlns:a="http://schemas.openxmlformats.org/drawingml/2006/main">
              <a:ext uri="{FF2B5EF4-FFF2-40B4-BE49-F238E27FC236}">
                <a16:creationId xmlns:a16="http://schemas.microsoft.com/office/drawing/2014/main" id="{1E15AC18-5867-4F65-9150-7008720503EE}"/>
              </a:ext>
            </a:extLst>
          </p:cNvPr>
          <p:cNvSpPr>
            <a:spLocks xmlns:a="http://schemas.openxmlformats.org/drawingml/2006/main" noGrp="1"/>
          </p:cNvSpPr>
          <p:nvPr/>
        </p:nvSpPr>
        <p:spPr>
          <a:xfrm xmlns:a="http://schemas.openxmlformats.org/drawingml/2006/main">
            <a:off x="5867400" y="2076450"/>
            <a:ext cx="2095500" cy="1009650"/>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Whole-plan gate</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Current policy</a:t>
            </a:r>
          </a:p>
        </p:txBody>
      </p:sp>
      <p:cxnSp>
        <p:nvCxnSpPr>
          <p:cNvPr id="21" name=""/>
          <p:cNvCxnSpPr>
            <a:stCxn xmlns:a="http://schemas.openxmlformats.org/drawingml/2006/main" id="3" idx="3"/>
            <a:endCxn xmlns:a="http://schemas.openxmlformats.org/drawingml/2006/main" id="4" idx="1"/>
          </p:cNvCxnSpPr>
          <p:nvPr/>
        </p:nvCxnSpPr>
        <p:spPr>
          <a:xfrm xmlns:a="http://schemas.openxmlformats.org/drawingml/2006/main">
            <a:off x="2590800" y="2581275"/>
            <a:ext cx="466725" cy="0"/>
          </a:xfrm>
          <a:prstGeom xmlns:a="http://schemas.openxmlformats.org/drawingml/2006/main" prst="straightConnector1">
            <a:avLst/>
          </a:prstGeom>
          <a:ln xmlns:a="http://schemas.openxmlformats.org/drawingml/2006/main" w="19050">
            <a:solidFill>
              <a:srgbClr val="2D6B51"/>
            </a:solidFill>
            <a:prstDash val="solid"/>
            <a:tailEnd type="arrow" w="med" len="med"/>
          </a:ln>
        </p:spPr>
      </p:cxnSp>
      <p:cxnSp>
        <p:nvCxnSpPr>
          <p:cNvPr id="22" name=""/>
          <p:cNvCxnSpPr>
            <a:stCxn xmlns:a="http://schemas.openxmlformats.org/drawingml/2006/main" id="4" idx="3"/>
            <a:endCxn xmlns:a="http://schemas.openxmlformats.org/drawingml/2006/main" id="5" idx="1"/>
          </p:cNvCxnSpPr>
          <p:nvPr/>
        </p:nvCxnSpPr>
        <p:spPr>
          <a:xfrm xmlns:a="http://schemas.openxmlformats.org/drawingml/2006/main">
            <a:off x="5353050" y="2581275"/>
            <a:ext cx="514350" cy="0"/>
          </a:xfrm>
          <a:prstGeom xmlns:a="http://schemas.openxmlformats.org/drawingml/2006/main" prst="straightConnector1">
            <a:avLst/>
          </a:prstGeom>
          <a:ln xmlns:a="http://schemas.openxmlformats.org/drawingml/2006/main" w="19050">
            <a:solidFill>
              <a:srgbClr val="2D6B51"/>
            </a:solidFill>
            <a:prstDash val="solid"/>
            <a:tailEnd type="arrow" w="med" len="med"/>
          </a:ln>
        </p:spPr>
      </p:cxnSp>
      <p:sp>
        <p:nvSpPr>
          <p:cNvPr id="8" name="text-27">
            <a:extLst xmlns:a="http://schemas.openxmlformats.org/drawingml/2006/main">
              <a:ext uri="{FF2B5EF4-FFF2-40B4-BE49-F238E27FC236}">
                <a16:creationId xmlns:a16="http://schemas.microsoft.com/office/drawing/2014/main" id="{54D7B91F-46E5-4EBF-8B4D-15D148249868}"/>
              </a:ext>
            </a:extLst>
          </p:cNvPr>
          <p:cNvSpPr>
            <a:spLocks xmlns:a="http://schemas.openxmlformats.org/drawingml/2006/main" noGrp="1"/>
          </p:cNvSpPr>
          <p:nvPr/>
        </p:nvSpPr>
        <p:spPr>
          <a:xfrm xmlns:a="http://schemas.openxmlformats.org/drawingml/2006/main">
            <a:off x="609600" y="3667125"/>
            <a:ext cx="6000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1">
                <a:solidFill>
                  <a:srgbClr val="2D6B51"/>
                </a:solidFill>
                <a:latin typeface="Arial"/>
                <a:ea typeface="Arial"/>
                <a:cs typeface="Arial"/>
              </a:defRPr>
            </a:pPr>
            <a:r>
              <a:rPr sz="1700" b="1">
                <a:solidFill>
                  <a:srgbClr val="2D6B51"/>
                </a:solidFill>
                <a:latin typeface="Arial"/>
                <a:ea typeface="Arial"/>
                <a:cs typeface="Arial"/>
              </a:rPr>
              <a:t>CONFIDENTIAL WORK STAYS IN THE LOCAL HOST</a:t>
            </a:r>
          </a:p>
        </p:txBody>
      </p:sp>
      <p:sp>
        <p:nvSpPr>
          <p:cNvPr id="9" name="mechanism-28">
            <a:extLst xmlns:a="http://schemas.openxmlformats.org/drawingml/2006/main">
              <a:ext uri="{FF2B5EF4-FFF2-40B4-BE49-F238E27FC236}">
                <a16:creationId xmlns:a16="http://schemas.microsoft.com/office/drawing/2014/main" id="{2EB65689-DFFE-4724-BD78-4DB04408F308}"/>
              </a:ext>
            </a:extLst>
          </p:cNvPr>
          <p:cNvSpPr>
            <a:spLocks xmlns:a="http://schemas.openxmlformats.org/drawingml/2006/main" noGrp="1"/>
          </p:cNvSpPr>
          <p:nvPr/>
        </p:nvSpPr>
        <p:spPr>
          <a:xfrm xmlns:a="http://schemas.openxmlformats.org/drawingml/2006/main">
            <a:off x="609600" y="4362450"/>
            <a:ext cx="1981200" cy="1009650"/>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Private records</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and rule bodies</a:t>
            </a:r>
          </a:p>
        </p:txBody>
      </p:sp>
      <p:sp>
        <p:nvSpPr>
          <p:cNvPr id="10" name="mechanism-29">
            <a:extLst xmlns:a="http://schemas.openxmlformats.org/drawingml/2006/main">
              <a:ext uri="{FF2B5EF4-FFF2-40B4-BE49-F238E27FC236}">
                <a16:creationId xmlns:a16="http://schemas.microsoft.com/office/drawing/2014/main" id="{158B923B-F625-4344-A966-994D2196D56D}"/>
              </a:ext>
            </a:extLst>
          </p:cNvPr>
          <p:cNvSpPr>
            <a:spLocks xmlns:a="http://schemas.openxmlformats.org/drawingml/2006/main" noGrp="1"/>
          </p:cNvSpPr>
          <p:nvPr/>
        </p:nvSpPr>
        <p:spPr>
          <a:xfrm xmlns:a="http://schemas.openxmlformats.org/drawingml/2006/main">
            <a:off x="5867400" y="4362450"/>
            <a:ext cx="2095500" cy="1009650"/>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Local executor</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Useful brief</a:t>
            </a:r>
          </a:p>
        </p:txBody>
      </p:sp>
      <p:sp>
        <p:nvSpPr>
          <p:cNvPr id="11" name="mechanism-30">
            <a:extLst xmlns:a="http://schemas.openxmlformats.org/drawingml/2006/main">
              <a:ext uri="{FF2B5EF4-FFF2-40B4-BE49-F238E27FC236}">
                <a16:creationId xmlns:a16="http://schemas.microsoft.com/office/drawing/2014/main" id="{B0B0AC10-992F-4CF7-A0E9-4EE92444EFC5}"/>
              </a:ext>
            </a:extLst>
          </p:cNvPr>
          <p:cNvSpPr>
            <a:spLocks xmlns:a="http://schemas.openxmlformats.org/drawingml/2006/main" noGrp="1"/>
          </p:cNvSpPr>
          <p:nvPr/>
        </p:nvSpPr>
        <p:spPr>
          <a:xfrm xmlns:a="http://schemas.openxmlformats.org/drawingml/2006/main">
            <a:off x="8601075" y="4219575"/>
            <a:ext cx="2981325" cy="1304925"/>
          </a:xfrm>
          <a:prstGeom xmlns:a="http://schemas.openxmlformats.org/drawingml/2006/main" prst="rect">
            <a:avLst/>
          </a:prstGeom>
          <a:solidFill xmlns:a="http://schemas.openxmlformats.org/drawingml/2006/main">
            <a:srgbClr val="F5F3EC"/>
          </a:solidFill>
          <a:ln xmlns:a="http://schemas.openxmlformats.org/drawingml/2006/main" w="14288">
            <a:solidFill>
              <a:srgbClr val="102D3C"/>
            </a:solidFill>
            <a:prstDash val="solid"/>
          </a:ln>
        </p:spPr>
        <p:txBody>
          <a:bodyPr xmlns:a="http://schemas.openxmlformats.org/drawingml/2006/main" lIns="95250" tIns="95250" rIns="95250" bIns="95250" anchor="ctr">
            <a:noAutofit/>
          </a:bodyPr>
          <a:lstStyle xmlns:a="http://schemas.openxmlformats.org/drawingml/2006/main"/>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Employee-approved</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internal save</a:t>
            </a:r>
          </a:p>
          <a:p xmlns:a="http://schemas.openxmlformats.org/drawingml/2006/main">
            <a:pPr algn="ctr">
              <a:defRPr sz="2000">
                <a:solidFill>
                  <a:srgbClr val="102D3C"/>
                </a:solidFill>
                <a:latin typeface="Arial"/>
                <a:ea typeface="Arial"/>
                <a:cs typeface="Arial"/>
              </a:defRPr>
            </a:pPr>
            <a:r>
              <a:rPr sz="2000">
                <a:solidFill>
                  <a:srgbClr val="102D3C"/>
                </a:solidFill>
                <a:latin typeface="Arial"/>
                <a:ea typeface="Arial"/>
                <a:cs typeface="Arial"/>
              </a:rPr>
              <a:t>Independent read-back</a:t>
            </a:r>
          </a:p>
        </p:txBody>
      </p:sp>
      <p:cxnSp>
        <p:nvCxnSpPr>
          <p:cNvPr id="27" name=""/>
          <p:cNvCxnSpPr>
            <a:stCxn xmlns:a="http://schemas.openxmlformats.org/drawingml/2006/main" id="5" idx="2"/>
            <a:endCxn xmlns:a="http://schemas.openxmlformats.org/drawingml/2006/main" id="10" idx="0"/>
          </p:cNvCxnSpPr>
          <p:nvPr/>
        </p:nvCxnSpPr>
        <p:spPr>
          <a:xfrm xmlns:a="http://schemas.openxmlformats.org/drawingml/2006/main">
            <a:off x="6915150" y="3086100"/>
            <a:ext cx="0" cy="1276350"/>
          </a:xfrm>
          <a:prstGeom xmlns:a="http://schemas.openxmlformats.org/drawingml/2006/main" prst="straightConnector1">
            <a:avLst/>
          </a:prstGeom>
          <a:ln xmlns:a="http://schemas.openxmlformats.org/drawingml/2006/main" w="19050">
            <a:solidFill>
              <a:srgbClr val="2D6B51"/>
            </a:solidFill>
            <a:prstDash val="solid"/>
            <a:tailEnd type="arrow" w="med" len="med"/>
          </a:ln>
        </p:spPr>
      </p:cxnSp>
      <p:cxnSp>
        <p:nvCxnSpPr>
          <p:cNvPr id="28" name=""/>
          <p:cNvCxnSpPr>
            <a:stCxn xmlns:a="http://schemas.openxmlformats.org/drawingml/2006/main" id="9" idx="3"/>
            <a:endCxn xmlns:a="http://schemas.openxmlformats.org/drawingml/2006/main" id="10" idx="1"/>
          </p:cNvCxnSpPr>
          <p:nvPr/>
        </p:nvCxnSpPr>
        <p:spPr>
          <a:xfrm xmlns:a="http://schemas.openxmlformats.org/drawingml/2006/main">
            <a:off x="2590800" y="4867275"/>
            <a:ext cx="3276600" cy="0"/>
          </a:xfrm>
          <a:prstGeom xmlns:a="http://schemas.openxmlformats.org/drawingml/2006/main" prst="straightConnector1">
            <a:avLst/>
          </a:prstGeom>
          <a:ln xmlns:a="http://schemas.openxmlformats.org/drawingml/2006/main" w="19050">
            <a:solidFill>
              <a:srgbClr val="2D6B51"/>
            </a:solidFill>
            <a:prstDash val="solid"/>
            <a:tailEnd type="arrow" w="med" len="med"/>
          </a:ln>
        </p:spPr>
      </p:cxnSp>
      <p:cxnSp>
        <p:nvCxnSpPr>
          <p:cNvPr id="29" name=""/>
          <p:cNvCxnSpPr>
            <a:stCxn xmlns:a="http://schemas.openxmlformats.org/drawingml/2006/main" id="10" idx="3"/>
            <a:endCxn xmlns:a="http://schemas.openxmlformats.org/drawingml/2006/main" id="11" idx="1"/>
          </p:cNvCxnSpPr>
          <p:nvPr/>
        </p:nvCxnSpPr>
        <p:spPr>
          <a:xfrm xmlns:a="http://schemas.openxmlformats.org/drawingml/2006/main">
            <a:off x="7962900" y="4867275"/>
            <a:ext cx="638175" cy="4763"/>
          </a:xfrm>
          <a:prstGeom xmlns:a="http://schemas.openxmlformats.org/drawingml/2006/main" prst="straightConnector1">
            <a:avLst/>
          </a:prstGeom>
          <a:ln xmlns:a="http://schemas.openxmlformats.org/drawingml/2006/main" w="19050">
            <a:solidFill>
              <a:srgbClr val="2D6B51"/>
            </a:solidFill>
            <a:prstDash val="solid"/>
            <a:tailEnd type="arrow" w="med" len="med"/>
          </a:ln>
        </p:spPr>
      </p:cxnSp>
      <p:sp>
        <p:nvSpPr>
          <p:cNvPr id="15" name="text-31">
            <a:extLst xmlns:a="http://schemas.openxmlformats.org/drawingml/2006/main">
              <a:ext uri="{FF2B5EF4-FFF2-40B4-BE49-F238E27FC236}">
                <a16:creationId xmlns:a16="http://schemas.microsoft.com/office/drawing/2014/main" id="{DC983EFC-F1EA-4BB8-96B0-558A5BE6CE68}"/>
              </a:ext>
            </a:extLst>
          </p:cNvPr>
          <p:cNvSpPr>
            <a:spLocks xmlns:a="http://schemas.openxmlformats.org/drawingml/2006/main" noGrp="1"/>
          </p:cNvSpPr>
          <p:nvPr/>
        </p:nvSpPr>
        <p:spPr>
          <a:xfrm xmlns:a="http://schemas.openxmlformats.org/drawingml/2006/main">
            <a:off x="609600" y="60102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465960"/>
                </a:solidFill>
                <a:latin typeface="Arial"/>
                <a:ea typeface="Arial"/>
                <a:cs typeface="Arial"/>
              </a:defRPr>
            </a:pPr>
            <a:r>
              <a:rPr sz="1800" b="0">
                <a:solidFill>
                  <a:srgbClr val="465960"/>
                </a:solidFill>
                <a:latin typeface="Arial"/>
                <a:ea typeface="Arial"/>
                <a:cs typeface="Arial"/>
              </a:rPr>
              <a:t>Authenticated host. Shared policy and allowance. No arbitrary code or network operations.</a:t>
            </a:r>
          </a:p>
        </p:txBody>
      </p:sp>
    </p:spTree>
    <p:extLst>
      <p:ext uri="{BB962C8B-B14F-4D97-AF65-F5344CB8AC3E}">
        <p14:creationId xmlns:p14="http://schemas.microsoft.com/office/powerpoint/2010/main" val="1988696720"/>
      </p:ext>
    </p:extLst>
  </p:cSld>
</p:sld>
</file>

<file path=ppt/slides/slide6.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7" name="text-32">
            <a:extLst xmlns:a="http://schemas.openxmlformats.org/drawingml/2006/main">
              <a:ext uri="{FF2B5EF4-FFF2-40B4-BE49-F238E27FC236}">
                <a16:creationId xmlns:a16="http://schemas.microsoft.com/office/drawing/2014/main" id="{C1E7DCDC-4D77-47F8-8D05-60626C2BCCFD}"/>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Actual inputs to the hosted models</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7b0a8290c55140d5"/>
          <a:stretch xmlns:a="http://schemas.openxmlformats.org/drawingml/2006/main"/>
        </p:blipFill>
        <p:spPr>
          <a:xfrm xmlns:a="http://schemas.openxmlformats.org/drawingml/2006/main">
            <a:off x="2502020" y="1524000"/>
            <a:ext cx="3073160" cy="4286250"/>
          </a:xfrm>
          <a:prstGeom xmlns:a="http://schemas.openxmlformats.org/drawingml/2006/main" prst="rect">
            <a:avLst/>
          </a:prstGeom>
        </p:spPr>
      </p:pic>
      <p:sp>
        <p:nvSpPr>
          <p:cNvPr id="3" name="text-33">
            <a:extLst xmlns:a="http://schemas.openxmlformats.org/drawingml/2006/main">
              <a:ext uri="{FF2B5EF4-FFF2-40B4-BE49-F238E27FC236}">
                <a16:creationId xmlns:a16="http://schemas.microsoft.com/office/drawing/2014/main" id="{1AA21CC9-602C-454E-9D9F-52888309225E}"/>
              </a:ext>
            </a:extLst>
          </p:cNvPr>
          <p:cNvSpPr>
            <a:spLocks xmlns:a="http://schemas.openxmlformats.org/drawingml/2006/main" noGrp="1"/>
          </p:cNvSpPr>
          <p:nvPr/>
        </p:nvSpPr>
        <p:spPr>
          <a:xfrm xmlns:a="http://schemas.openxmlformats.org/drawingml/2006/main">
            <a:off x="8001000" y="1571625"/>
            <a:ext cx="35814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D6B51"/>
                </a:solidFill>
                <a:latin typeface="Arial"/>
                <a:ea typeface="Arial"/>
                <a:cs typeface="Arial"/>
              </a:defRPr>
            </a:pPr>
            <a:r>
              <a:rPr sz="2400" b="1">
                <a:solidFill>
                  <a:srgbClr val="2D6B51"/>
                </a:solidFill>
                <a:latin typeface="Arial"/>
                <a:ea typeface="Arial"/>
                <a:cs typeface="Arial"/>
              </a:rPr>
              <a:t>Public application bodies</a:t>
            </a:r>
          </a:p>
        </p:txBody>
      </p:sp>
      <p:sp>
        <p:nvSpPr>
          <p:cNvPr id="4" name="text-34">
            <a:extLst xmlns:a="http://schemas.openxmlformats.org/drawingml/2006/main">
              <a:ext uri="{FF2B5EF4-FFF2-40B4-BE49-F238E27FC236}">
                <a16:creationId xmlns:a16="http://schemas.microsoft.com/office/drawing/2014/main" id="{3B4C3CAC-0806-41C9-9D37-2543358ACAEA}"/>
              </a:ext>
            </a:extLst>
          </p:cNvPr>
          <p:cNvSpPr>
            <a:spLocks xmlns:a="http://schemas.openxmlformats.org/drawingml/2006/main" noGrp="1"/>
          </p:cNvSpPr>
          <p:nvPr/>
        </p:nvSpPr>
        <p:spPr>
          <a:xfrm xmlns:a="http://schemas.openxmlformats.org/drawingml/2006/main">
            <a:off x="8001000" y="2695575"/>
            <a:ext cx="3581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Approved objective</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Capability grammar</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Admitted public advisory</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Proposed operation recipe</a:t>
            </a:r>
          </a:p>
        </p:txBody>
      </p:sp>
      <p:sp>
        <p:nvSpPr>
          <p:cNvPr id="5" name="text-35">
            <a:extLst xmlns:a="http://schemas.openxmlformats.org/drawingml/2006/main">
              <a:ext uri="{FF2B5EF4-FFF2-40B4-BE49-F238E27FC236}">
                <a16:creationId xmlns:a16="http://schemas.microsoft.com/office/drawing/2014/main" id="{9C02F265-FA33-46F2-9004-3311FCDDF3C3}"/>
              </a:ext>
            </a:extLst>
          </p:cNvPr>
          <p:cNvSpPr>
            <a:spLocks xmlns:a="http://schemas.openxmlformats.org/drawingml/2006/main" noGrp="1"/>
          </p:cNvSpPr>
          <p:nvPr/>
        </p:nvSpPr>
        <p:spPr>
          <a:xfrm xmlns:a="http://schemas.openxmlformats.org/drawingml/2006/main">
            <a:off x="8001000" y="4705350"/>
            <a:ext cx="35814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1">
                <a:solidFill>
                  <a:srgbClr val="102D3C"/>
                </a:solidFill>
                <a:latin typeface="Arial"/>
                <a:ea typeface="Arial"/>
                <a:cs typeface="Arial"/>
              </a:defRPr>
            </a:pPr>
            <a:r>
              <a:rPr sz="2000" b="1">
                <a:solidFill>
                  <a:srgbClr val="102D3C"/>
                </a:solidFill>
                <a:latin typeface="Arial"/>
                <a:ea typeface="Arial"/>
                <a:cs typeface="Arial"/>
              </a:rPr>
              <a:t>No private records, rule bodies</a:t>
            </a:r>
          </a:p>
          <a:p xmlns:a="http://schemas.openxmlformats.org/drawingml/2006/main">
            <a:pPr algn="l">
              <a:defRPr sz="2000" b="1">
                <a:solidFill>
                  <a:srgbClr val="102D3C"/>
                </a:solidFill>
                <a:latin typeface="Arial"/>
                <a:ea typeface="Arial"/>
                <a:cs typeface="Arial"/>
              </a:defRPr>
            </a:pPr>
            <a:r>
              <a:rPr sz="2000" b="1">
                <a:solidFill>
                  <a:srgbClr val="102D3C"/>
                </a:solidFill>
                <a:latin typeface="Arial"/>
                <a:ea typeface="Arial"/>
                <a:cs typeface="Arial"/>
              </a:rPr>
              <a:t>or computed brief in the</a:t>
            </a:r>
          </a:p>
          <a:p xmlns:a="http://schemas.openxmlformats.org/drawingml/2006/main">
            <a:pPr algn="l">
              <a:defRPr sz="2000" b="1">
                <a:solidFill>
                  <a:srgbClr val="102D3C"/>
                </a:solidFill>
                <a:latin typeface="Arial"/>
                <a:ea typeface="Arial"/>
                <a:cs typeface="Arial"/>
              </a:defRPr>
            </a:pPr>
            <a:r>
              <a:rPr sz="2000" b="1">
                <a:solidFill>
                  <a:srgbClr val="102D3C"/>
                </a:solidFill>
                <a:latin typeface="Arial"/>
                <a:ea typeface="Arial"/>
                <a:cs typeface="Arial"/>
              </a:rPr>
              <a:t>inspected application bodies.</a:t>
            </a:r>
          </a:p>
        </p:txBody>
      </p:sp>
      <p:sp>
        <p:nvSpPr>
          <p:cNvPr id="6" name="text-36">
            <a:extLst xmlns:a="http://schemas.openxmlformats.org/drawingml/2006/main">
              <a:ext uri="{FF2B5EF4-FFF2-40B4-BE49-F238E27FC236}">
                <a16:creationId xmlns:a16="http://schemas.microsoft.com/office/drawing/2014/main" id="{A4318B38-0217-4ECB-A836-D67ACA3EE50E}"/>
              </a:ext>
            </a:extLst>
          </p:cNvPr>
          <p:cNvSpPr>
            <a:spLocks xmlns:a="http://schemas.openxmlformats.org/drawingml/2006/main" noGrp="1"/>
          </p:cNvSpPr>
          <p:nvPr/>
        </p:nvSpPr>
        <p:spPr>
          <a:xfrm xmlns:a="http://schemas.openxmlformats.org/drawingml/2006/main">
            <a:off x="609600" y="60864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Public task/capability and transport metadata remain disclosed. The local host is trusted.</a:t>
            </a:r>
          </a:p>
        </p:txBody>
      </p:sp>
    </p:spTree>
    <p:extLst>
      <p:ext uri="{BB962C8B-B14F-4D97-AF65-F5344CB8AC3E}">
        <p14:creationId xmlns:p14="http://schemas.microsoft.com/office/powerpoint/2010/main" val="1023931196"/>
      </p:ext>
    </p:extLst>
  </p:cSld>
</p:sld>
</file>

<file path=ppt/slides/slide7.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7" name="text-37">
            <a:extLst xmlns:a="http://schemas.openxmlformats.org/drawingml/2006/main">
              <a:ext uri="{FF2B5EF4-FFF2-40B4-BE49-F238E27FC236}">
                <a16:creationId xmlns:a16="http://schemas.microsoft.com/office/drawing/2014/main" id="{27D33AA3-FA60-42AD-A8E3-298F047E4F79}"/>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Controls stop a forbidden interaction</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0db3369fe9574b4c"/>
          <a:stretch xmlns:a="http://schemas.openxmlformats.org/drawingml/2006/main"/>
        </p:blipFill>
        <p:spPr>
          <a:xfrm xmlns:a="http://schemas.openxmlformats.org/drawingml/2006/main">
            <a:off x="609600" y="2260300"/>
            <a:ext cx="6381750" cy="2889849"/>
          </a:xfrm>
          <a:prstGeom xmlns:a="http://schemas.openxmlformats.org/drawingml/2006/main" prst="rect">
            <a:avLst/>
          </a:prstGeom>
        </p:spPr>
      </p:pic>
      <p:sp>
        <p:nvSpPr>
          <p:cNvPr id="3" name="text-38">
            <a:extLst xmlns:a="http://schemas.openxmlformats.org/drawingml/2006/main">
              <a:ext uri="{FF2B5EF4-FFF2-40B4-BE49-F238E27FC236}">
                <a16:creationId xmlns:a16="http://schemas.microsoft.com/office/drawing/2014/main" id="{0ECD0228-91ED-40C7-9178-9A8B8F8716C3}"/>
              </a:ext>
            </a:extLst>
          </p:cNvPr>
          <p:cNvSpPr>
            <a:spLocks xmlns:a="http://schemas.openxmlformats.org/drawingml/2006/main" noGrp="1"/>
          </p:cNvSpPr>
          <p:nvPr/>
        </p:nvSpPr>
        <p:spPr>
          <a:xfrm xmlns:a="http://schemas.openxmlformats.org/drawingml/2006/main">
            <a:off x="7467600" y="1581150"/>
            <a:ext cx="4114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1">
                <a:solidFill>
                  <a:srgbClr val="2D6B51"/>
                </a:solidFill>
                <a:latin typeface="Arial"/>
                <a:ea typeface="Arial"/>
                <a:cs typeface="Arial"/>
              </a:defRPr>
            </a:pPr>
            <a:r>
              <a:rPr sz="2000" b="1">
                <a:solidFill>
                  <a:srgbClr val="2D6B51"/>
                </a:solidFill>
                <a:latin typeface="Arial"/>
                <a:ea typeface="Arial"/>
                <a:cs typeface="Arial"/>
              </a:rPr>
              <a:t>Benign advisory admitted</a:t>
            </a:r>
          </a:p>
          <a:p xmlns:a="http://schemas.openxmlformats.org/drawingml/2006/main">
            <a:pPr algn="l">
              <a:defRPr sz="2000" b="1">
                <a:solidFill>
                  <a:srgbClr val="2D6B51"/>
                </a:solidFill>
                <a:latin typeface="Arial"/>
                <a:ea typeface="Arial"/>
                <a:cs typeface="Arial"/>
              </a:defRPr>
            </a:pPr>
            <a:r>
              <a:rPr sz="2000" b="1">
                <a:solidFill>
                  <a:srgbClr val="2D6B51"/>
                </a:solidFill>
                <a:latin typeface="Arial"/>
                <a:ea typeface="Arial"/>
                <a:cs typeface="Arial"/>
              </a:rPr>
              <a:t>Hostile paraphrase quarantined</a:t>
            </a:r>
          </a:p>
        </p:txBody>
      </p:sp>
      <p:sp>
        <p:nvSpPr>
          <p:cNvPr id="4" name="text-39">
            <a:extLst xmlns:a="http://schemas.openxmlformats.org/drawingml/2006/main">
              <a:ext uri="{FF2B5EF4-FFF2-40B4-BE49-F238E27FC236}">
                <a16:creationId xmlns:a16="http://schemas.microsoft.com/office/drawing/2014/main" id="{2A0D7A07-7BB0-4A66-AD06-95BBE7734E73}"/>
              </a:ext>
            </a:extLst>
          </p:cNvPr>
          <p:cNvSpPr>
            <a:spLocks xmlns:a="http://schemas.openxmlformats.org/drawingml/2006/main" noGrp="1"/>
          </p:cNvSpPr>
          <p:nvPr/>
        </p:nvSpPr>
        <p:spPr>
          <a:xfrm xmlns:a="http://schemas.openxmlformats.org/drawingml/2006/main">
            <a:off x="7467600" y="2914650"/>
            <a:ext cx="41148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Budget blocks new dispatch</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Stale save adds no effect</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Manual external export refused</a:t>
            </a:r>
          </a:p>
        </p:txBody>
      </p:sp>
      <p:sp>
        <p:nvSpPr>
          <p:cNvPr id="5" name="text-40">
            <a:extLst xmlns:a="http://schemas.openxmlformats.org/drawingml/2006/main">
              <a:ext uri="{FF2B5EF4-FFF2-40B4-BE49-F238E27FC236}">
                <a16:creationId xmlns:a16="http://schemas.microsoft.com/office/drawing/2014/main" id="{F50722FB-B0AF-4F07-97A1-AB927640F62B}"/>
              </a:ext>
            </a:extLst>
          </p:cNvPr>
          <p:cNvSpPr>
            <a:spLocks xmlns:a="http://schemas.openxmlformats.org/drawingml/2006/main" noGrp="1"/>
          </p:cNvSpPr>
          <p:nvPr/>
        </p:nvSpPr>
        <p:spPr>
          <a:xfrm xmlns:a="http://schemas.openxmlformats.org/drawingml/2006/main">
            <a:off x="7467600" y="4810125"/>
            <a:ext cx="4114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1">
                <a:solidFill>
                  <a:srgbClr val="102D3C"/>
                </a:solidFill>
                <a:latin typeface="Arial"/>
                <a:ea typeface="Arial"/>
                <a:cs typeface="Arial"/>
              </a:defRPr>
            </a:pPr>
            <a:r>
              <a:rPr sz="2000" b="1">
                <a:solidFill>
                  <a:srgbClr val="102D3C"/>
                </a:solidFill>
                <a:latin typeface="Arial"/>
                <a:ea typeface="Arial"/>
                <a:cs typeface="Arial"/>
              </a:rPr>
              <a:t>Internal save: 1 exact</a:t>
            </a:r>
          </a:p>
          <a:p xmlns:a="http://schemas.openxmlformats.org/drawingml/2006/main">
            <a:pPr algn="l">
              <a:defRPr sz="2000" b="1">
                <a:solidFill>
                  <a:srgbClr val="102D3C"/>
                </a:solidFill>
                <a:latin typeface="Arial"/>
                <a:ea typeface="Arial"/>
                <a:cs typeface="Arial"/>
              </a:defRPr>
            </a:pPr>
            <a:r>
              <a:rPr sz="2000" b="1">
                <a:solidFill>
                  <a:srgbClr val="102D3C"/>
                </a:solidFill>
                <a:latin typeface="Arial"/>
                <a:ea typeface="Arial"/>
                <a:cs typeface="Arial"/>
              </a:rPr>
              <a:t>independently observed record</a:t>
            </a:r>
          </a:p>
        </p:txBody>
      </p:sp>
      <p:sp>
        <p:nvSpPr>
          <p:cNvPr id="6" name="text-41">
            <a:extLst xmlns:a="http://schemas.openxmlformats.org/drawingml/2006/main">
              <a:ext uri="{FF2B5EF4-FFF2-40B4-BE49-F238E27FC236}">
                <a16:creationId xmlns:a16="http://schemas.microsoft.com/office/drawing/2014/main" id="{E9FF34E0-0D05-45D6-A26B-4DE20DC5EC4D}"/>
              </a:ext>
            </a:extLst>
          </p:cNvPr>
          <p:cNvSpPr>
            <a:spLocks xmlns:a="http://schemas.openxmlformats.org/drawingml/2006/main" noGrp="1"/>
          </p:cNvSpPr>
          <p:nvPr/>
        </p:nvSpPr>
        <p:spPr>
          <a:xfrm xmlns:a="http://schemas.openxmlformats.org/drawingml/2006/main">
            <a:off x="609600" y="6086475"/>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Whole-source quarantine is an observed control decision. It does not prove downstream causal benefit.</a:t>
            </a:r>
          </a:p>
        </p:txBody>
      </p:sp>
    </p:spTree>
    <p:extLst>
      <p:ext uri="{BB962C8B-B14F-4D97-AF65-F5344CB8AC3E}">
        <p14:creationId xmlns:p14="http://schemas.microsoft.com/office/powerpoint/2010/main" val="1052447977"/>
      </p:ext>
    </p:extLst>
  </p:cSld>
</p:sld>
</file>

<file path=ppt/slides/slide8.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text-42">
            <a:extLst xmlns:a="http://schemas.openxmlformats.org/drawingml/2006/main">
              <a:ext uri="{FF2B5EF4-FFF2-40B4-BE49-F238E27FC236}">
                <a16:creationId xmlns:a16="http://schemas.microsoft.com/office/drawing/2014/main" id="{7EE1A201-84C9-4596-B59A-CE22388A4423}"/>
              </a:ext>
            </a:extLst>
          </p:cNvPr>
          <p:cNvSpPr>
            <a:spLocks xmlns:a="http://schemas.openxmlformats.org/drawingml/2006/main" noGrp="1"/>
          </p:cNvSpPr>
          <p:nvPr/>
        </p:nvSpPr>
        <p:spPr>
          <a:xfrm xmlns:a="http://schemas.openxmlformats.org/drawingml/2006/main">
            <a:off x="609600" y="4191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00" b="1">
                <a:solidFill>
                  <a:srgbClr val="102D3C"/>
                </a:solidFill>
                <a:latin typeface="Arial"/>
                <a:ea typeface="Arial"/>
                <a:cs typeface="Arial"/>
              </a:defRPr>
            </a:pPr>
            <a:r>
              <a:rPr sz="3400" b="1">
                <a:solidFill>
                  <a:srgbClr val="102D3C"/>
                </a:solidFill>
                <a:latin typeface="Arial"/>
                <a:ea typeface="Arial"/>
                <a:cs typeface="Arial"/>
              </a:rPr>
              <a:t>Evidence and limits</a:t>
            </a:r>
          </a:p>
        </p:txBody>
      </p:sp>
      <p:sp>
        <p:nvSpPr>
          <p:cNvPr id="2" name="text-43">
            <a:extLst xmlns:a="http://schemas.openxmlformats.org/drawingml/2006/main">
              <a:ext uri="{FF2B5EF4-FFF2-40B4-BE49-F238E27FC236}">
                <a16:creationId xmlns:a16="http://schemas.microsoft.com/office/drawing/2014/main" id="{06FC975E-CE3F-4AC3-BCA4-737B40B852EF}"/>
              </a:ext>
            </a:extLst>
          </p:cNvPr>
          <p:cNvSpPr>
            <a:spLocks xmlns:a="http://schemas.openxmlformats.org/drawingml/2006/main" noGrp="1"/>
          </p:cNvSpPr>
          <p:nvPr/>
        </p:nvSpPr>
        <p:spPr>
          <a:xfrm xmlns:a="http://schemas.openxmlformats.org/drawingml/2006/main">
            <a:off x="609600" y="1504950"/>
            <a:ext cx="5219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D6B51"/>
                </a:solidFill>
                <a:latin typeface="Arial"/>
                <a:ea typeface="Arial"/>
                <a:cs typeface="Arial"/>
              </a:defRPr>
            </a:pPr>
            <a:r>
              <a:rPr sz="2400" b="1">
                <a:solidFill>
                  <a:srgbClr val="2D6B51"/>
                </a:solidFill>
                <a:latin typeface="Arial"/>
                <a:ea typeface="Arial"/>
                <a:cs typeface="Arial"/>
              </a:rPr>
              <a:t>Observed proof</a:t>
            </a:r>
          </a:p>
        </p:txBody>
      </p:sp>
      <p:sp>
        <p:nvSpPr>
          <p:cNvPr id="3" name="text-44">
            <a:extLst xmlns:a="http://schemas.openxmlformats.org/drawingml/2006/main">
              <a:ext uri="{FF2B5EF4-FFF2-40B4-BE49-F238E27FC236}">
                <a16:creationId xmlns:a16="http://schemas.microsoft.com/office/drawing/2014/main" id="{D4132D4D-B885-41FC-810B-36CBCC1E5D9B}"/>
              </a:ext>
            </a:extLst>
          </p:cNvPr>
          <p:cNvSpPr>
            <a:spLocks xmlns:a="http://schemas.openxmlformats.org/drawingml/2006/main" noGrp="1"/>
          </p:cNvSpPr>
          <p:nvPr/>
        </p:nvSpPr>
        <p:spPr>
          <a:xfrm xmlns:a="http://schemas.openxmlformats.org/drawingml/2006/main">
            <a:off x="609600" y="2143125"/>
            <a:ext cx="539115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4 original advisory cases, 1 each</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2 original compositions + 1 new intention</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Private rebinds add zero new attempts</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Exact internal saves observed independently</a:t>
            </a:r>
          </a:p>
        </p:txBody>
      </p:sp>
      <p:sp>
        <p:nvSpPr>
          <p:cNvPr id="4" name="text-45">
            <a:extLst xmlns:a="http://schemas.openxmlformats.org/drawingml/2006/main">
              <a:ext uri="{FF2B5EF4-FFF2-40B4-BE49-F238E27FC236}">
                <a16:creationId xmlns:a16="http://schemas.microsoft.com/office/drawing/2014/main" id="{73E60E6A-CC32-403A-BF55-92CFA8D000AB}"/>
              </a:ext>
            </a:extLst>
          </p:cNvPr>
          <p:cNvSpPr>
            <a:spLocks xmlns:a="http://schemas.openxmlformats.org/drawingml/2006/main" noGrp="1"/>
          </p:cNvSpPr>
          <p:nvPr/>
        </p:nvSpPr>
        <p:spPr>
          <a:xfrm xmlns:a="http://schemas.openxmlformats.org/drawingml/2006/main">
            <a:off x="609600" y="4457700"/>
            <a:ext cx="53911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D3C"/>
                </a:solidFill>
                <a:latin typeface="Arial"/>
                <a:ea typeface="Arial"/>
                <a:cs typeface="Arial"/>
              </a:defRPr>
            </a:pPr>
            <a:r>
              <a:rPr sz="1800" b="1">
                <a:solidFill>
                  <a:srgbClr val="102D3C"/>
                </a:solidFill>
                <a:latin typeface="Arial"/>
                <a:ea typeface="Arial"/>
                <a:cs typeface="Arial"/>
              </a:rPr>
              <a:t>24 proof + 16 walkthrough + 8 intention = 48</a:t>
            </a:r>
          </a:p>
          <a:p xmlns:a="http://schemas.openxmlformats.org/drawingml/2006/main">
            <a:pPr algn="l">
              <a:defRPr sz="1800" b="1">
                <a:solidFill>
                  <a:srgbClr val="102D3C"/>
                </a:solidFill>
                <a:latin typeface="Arial"/>
                <a:ea typeface="Arial"/>
                <a:cs typeface="Arial"/>
              </a:defRPr>
            </a:pPr>
            <a:r>
              <a:rPr sz="1800" b="1">
                <a:solidFill>
                  <a:srgbClr val="102D3C"/>
                </a:solidFill>
                <a:latin typeface="Arial"/>
                <a:ea typeface="Arial"/>
                <a:cs typeface="Arial"/>
              </a:rPr>
              <a:t>Original combined 36 / 32 forecast exceeded</a:t>
            </a:r>
          </a:p>
          <a:p xmlns:a="http://schemas.openxmlformats.org/drawingml/2006/main">
            <a:pPr algn="l">
              <a:defRPr sz="1800" b="1">
                <a:solidFill>
                  <a:srgbClr val="102D3C"/>
                </a:solidFill>
                <a:latin typeface="Arial"/>
                <a:ea typeface="Arial"/>
                <a:cs typeface="Arial"/>
              </a:defRPr>
            </a:pPr>
            <a:r>
              <a:rPr sz="1800" b="1">
                <a:solidFill>
                  <a:srgbClr val="102D3C"/>
                </a:solidFill>
                <a:latin typeface="Arial"/>
                <a:ea typeface="Arial"/>
                <a:cs typeface="Arial"/>
              </a:rPr>
              <a:t>Model inference: 15 of 48 charged wires</a:t>
            </a:r>
          </a:p>
        </p:txBody>
      </p:sp>
      <p:sp>
        <p:nvSpPr>
          <p:cNvPr id="5" name="text-46">
            <a:extLst xmlns:a="http://schemas.openxmlformats.org/drawingml/2006/main">
              <a:ext uri="{FF2B5EF4-FFF2-40B4-BE49-F238E27FC236}">
                <a16:creationId xmlns:a16="http://schemas.microsoft.com/office/drawing/2014/main" id="{F3521433-E0C5-45A7-A13D-98CE09643FA7}"/>
              </a:ext>
            </a:extLst>
          </p:cNvPr>
          <p:cNvSpPr>
            <a:spLocks xmlns:a="http://schemas.openxmlformats.org/drawingml/2006/main" noGrp="1"/>
          </p:cNvSpPr>
          <p:nvPr/>
        </p:nvSpPr>
        <p:spPr>
          <a:xfrm xmlns:a="http://schemas.openxmlformats.org/drawingml/2006/main">
            <a:off x="609600" y="5686425"/>
            <a:ext cx="5391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4 automated walkthroughs; no human rehearsal</a:t>
            </a:r>
          </a:p>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48.93s backup: seven paced UI captures</a:t>
            </a:r>
          </a:p>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10 historical unknowns charged; tariff unpriced</a:t>
            </a:r>
          </a:p>
        </p:txBody>
      </p:sp>
      <p:sp>
        <p:nvSpPr>
          <p:cNvPr id="6" name="text-47">
            <a:extLst xmlns:a="http://schemas.openxmlformats.org/drawingml/2006/main">
              <a:ext uri="{FF2B5EF4-FFF2-40B4-BE49-F238E27FC236}">
                <a16:creationId xmlns:a16="http://schemas.microsoft.com/office/drawing/2014/main" id="{6B2551A5-9AC8-492C-862C-A27EC46E9488}"/>
              </a:ext>
            </a:extLst>
          </p:cNvPr>
          <p:cNvSpPr>
            <a:spLocks xmlns:a="http://schemas.openxmlformats.org/drawingml/2006/main" noGrp="1"/>
          </p:cNvSpPr>
          <p:nvPr/>
        </p:nvSpPr>
        <p:spPr>
          <a:xfrm xmlns:a="http://schemas.openxmlformats.org/drawingml/2006/main">
            <a:off x="6553200" y="1504950"/>
            <a:ext cx="5029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02D3C"/>
                </a:solidFill>
                <a:latin typeface="Arial"/>
                <a:ea typeface="Arial"/>
                <a:cs typeface="Arial"/>
              </a:defRPr>
            </a:pPr>
            <a:r>
              <a:rPr sz="2400" b="1">
                <a:solidFill>
                  <a:srgbClr val="102D3C"/>
                </a:solidFill>
                <a:latin typeface="Arial"/>
                <a:ea typeface="Arial"/>
                <a:cs typeface="Arial"/>
              </a:rPr>
              <a:t>Boundary and measurements</a:t>
            </a:r>
          </a:p>
        </p:txBody>
      </p:sp>
      <p:sp>
        <p:nvSpPr>
          <p:cNvPr id="7" name="text-48">
            <a:extLst xmlns:a="http://schemas.openxmlformats.org/drawingml/2006/main">
              <a:ext uri="{FF2B5EF4-FFF2-40B4-BE49-F238E27FC236}">
                <a16:creationId xmlns:a16="http://schemas.microsoft.com/office/drawing/2014/main" id="{27327BF2-71DC-44A5-9395-E3519E6CAA9E}"/>
              </a:ext>
            </a:extLst>
          </p:cNvPr>
          <p:cNvSpPr>
            <a:spLocks xmlns:a="http://schemas.openxmlformats.org/drawingml/2006/main" noGrp="1"/>
          </p:cNvSpPr>
          <p:nvPr/>
        </p:nvSpPr>
        <p:spPr>
          <a:xfrm xmlns:a="http://schemas.openxmlformats.org/drawingml/2006/main">
            <a:off x="6553200" y="2143125"/>
            <a:ext cx="5029200" cy="2219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Synthetic data, owner-funded hosted AI</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No demonstrated local LLM backend</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Trusted local host and employee</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Potential savings, not achieved savings</a:t>
            </a:r>
          </a:p>
          <a:p xmlns:a="http://schemas.openxmlformats.org/drawingml/2006/main">
            <a:pPr algn="l">
              <a:defRPr sz="2000" b="0">
                <a:solidFill>
                  <a:srgbClr val="102D3C"/>
                </a:solidFill>
                <a:latin typeface="Arial"/>
                <a:ea typeface="Arial"/>
                <a:cs typeface="Arial"/>
              </a:defRPr>
            </a:pPr>
            <a:r>
              <a:rPr sz="2000" b="0">
                <a:solidFill>
                  <a:srgbClr val="102D3C"/>
                </a:solidFill>
                <a:latin typeface="Arial"/>
                <a:ea typeface="Arial"/>
                <a:cs typeface="Arial"/>
              </a:rPr>
              <a:t>No production or formal security proof</a:t>
            </a:r>
          </a:p>
        </p:txBody>
      </p:sp>
      <p:sp>
        <p:nvSpPr>
          <p:cNvPr id="8" name="text-49">
            <a:extLst xmlns:a="http://schemas.openxmlformats.org/drawingml/2006/main">
              <a:ext uri="{FF2B5EF4-FFF2-40B4-BE49-F238E27FC236}">
                <a16:creationId xmlns:a16="http://schemas.microsoft.com/office/drawing/2014/main" id="{6214DA21-569D-495D-8135-9D2127619740}"/>
              </a:ext>
            </a:extLst>
          </p:cNvPr>
          <p:cNvSpPr>
            <a:spLocks xmlns:a="http://schemas.openxmlformats.org/drawingml/2006/main" noGrp="1"/>
          </p:cNvSpPr>
          <p:nvPr/>
        </p:nvSpPr>
        <p:spPr>
          <a:xfrm xmlns:a="http://schemas.openxmlformats.org/drawingml/2006/main">
            <a:off x="6553200" y="4648200"/>
            <a:ext cx="5029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D3C"/>
                </a:solidFill>
                <a:latin typeface="Arial"/>
                <a:ea typeface="Arial"/>
                <a:cs typeface="Arial"/>
              </a:defRPr>
            </a:pPr>
            <a:r>
              <a:rPr sz="1800" b="1">
                <a:solidFill>
                  <a:srgbClr val="102D3C"/>
                </a:solidFill>
                <a:latin typeface="Arial"/>
                <a:ea typeface="Arial"/>
                <a:cs typeface="Arial"/>
              </a:rPr>
              <a:t>339/339 offline runner checks pass</a:t>
            </a:r>
          </a:p>
        </p:txBody>
      </p:sp>
      <p:sp>
        <p:nvSpPr>
          <p:cNvPr id="9" name="text-50">
            <a:extLst xmlns:a="http://schemas.openxmlformats.org/drawingml/2006/main">
              <a:ext uri="{FF2B5EF4-FFF2-40B4-BE49-F238E27FC236}">
                <a16:creationId xmlns:a16="http://schemas.microsoft.com/office/drawing/2014/main" id="{E615D3ED-E207-42A7-B3E4-6D7096B86C46}"/>
              </a:ext>
            </a:extLst>
          </p:cNvPr>
          <p:cNvSpPr>
            <a:spLocks xmlns:a="http://schemas.openxmlformats.org/drawingml/2006/main" noGrp="1"/>
          </p:cNvSpPr>
          <p:nvPr/>
        </p:nvSpPr>
        <p:spPr>
          <a:xfrm xmlns:a="http://schemas.openxmlformats.org/drawingml/2006/main">
            <a:off x="6553200" y="5562600"/>
            <a:ext cx="50292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One actual composition: 3.66s overall</a:t>
            </a:r>
          </a:p>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Hosted spans: 3.65s, local: 1.61ms</a:t>
            </a:r>
          </a:p>
          <a:p xmlns:a="http://schemas.openxmlformats.org/drawingml/2006/main">
            <a:pPr algn="l">
              <a:defRPr sz="1700" b="0">
                <a:solidFill>
                  <a:srgbClr val="465960"/>
                </a:solidFill>
                <a:latin typeface="Arial"/>
                <a:ea typeface="Arial"/>
                <a:cs typeface="Arial"/>
              </a:defRPr>
            </a:pPr>
            <a:r>
              <a:rPr sz="1700" b="0">
                <a:solidFill>
                  <a:srgbClr val="465960"/>
                </a:solidFill>
                <a:latin typeface="Arial"/>
                <a:ea typeface="Arial"/>
                <a:cs typeface="Arial"/>
              </a:rPr>
              <a:t>MCP save call: 10.95ms, separate</a:t>
            </a:r>
          </a:p>
        </p:txBody>
      </p:sp>
    </p:spTree>
    <p:extLst>
      <p:ext uri="{BB962C8B-B14F-4D97-AF65-F5344CB8AC3E}">
        <p14:creationId xmlns:p14="http://schemas.microsoft.com/office/powerpoint/2010/main" val="1316509082"/>
      </p:ext>
    </p:extLst>
  </p:cSld>
</p:sld>
</file>

<file path=ppt/slides/slide9.xml><?xml version="1.0" encoding="utf-8"?>
<p:sld xmlns:p="http://schemas.openxmlformats.org/presentationml/2006/main">
  <p:cSld>
    <p:bg>
      <p:bgPr>
        <a:solidFill xmlns:a="http://schemas.openxmlformats.org/drawingml/2006/main">
          <a:srgbClr val="102D3C"/>
        </a:solidFill>
      </p:bgPr>
    </p:bg>
    <p:spTree>
      <p:nvGrpSpPr>
        <p:cNvPr id="1" name=""/>
        <p:cNvGrpSpPr/>
        <p:nvPr/>
      </p:nvGrpSpPr>
      <p:grpSpPr>
        <a:xfrm xmlns:a="http://schemas.openxmlformats.org/drawingml/2006/main"/>
      </p:grpSpPr>
      <p:sp>
        <p:nvSpPr>
          <p:cNvPr id="5" name="text-51">
            <a:extLst xmlns:a="http://schemas.openxmlformats.org/drawingml/2006/main">
              <a:ext uri="{FF2B5EF4-FFF2-40B4-BE49-F238E27FC236}">
                <a16:creationId xmlns:a16="http://schemas.microsoft.com/office/drawing/2014/main" id="{DFC00C01-96DA-4E71-B524-8F4D25744A29}"/>
              </a:ext>
            </a:extLst>
          </p:cNvPr>
          <p:cNvSpPr>
            <a:spLocks xmlns:a="http://schemas.openxmlformats.org/drawingml/2006/main" noGrp="1"/>
          </p:cNvSpPr>
          <p:nvPr/>
        </p:nvSpPr>
        <p:spPr>
          <a:xfrm xmlns:a="http://schemas.openxmlformats.org/drawingml/2006/main">
            <a:off x="609600" y="781050"/>
            <a:ext cx="109728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FFFFFF"/>
                </a:solidFill>
                <a:latin typeface="Arial"/>
                <a:ea typeface="Arial"/>
                <a:cs typeface="Arial"/>
              </a:defRPr>
            </a:pPr>
            <a:r>
              <a:rPr sz="4200" b="1">
                <a:solidFill>
                  <a:srgbClr val="FFFFFF"/>
                </a:solidFill>
                <a:latin typeface="Arial"/>
                <a:ea typeface="Arial"/>
                <a:cs typeface="Arial"/>
              </a:rPr>
              <a:t>AI supplies the method.</a:t>
            </a:r>
          </a:p>
          <a:p xmlns:a="http://schemas.openxmlformats.org/drawingml/2006/main">
            <a:pPr algn="l">
              <a:defRPr sz="4200" b="1">
                <a:solidFill>
                  <a:srgbClr val="FFFFFF"/>
                </a:solidFill>
                <a:latin typeface="Arial"/>
                <a:ea typeface="Arial"/>
                <a:cs typeface="Arial"/>
              </a:defRPr>
            </a:pPr>
            <a:r>
              <a:rPr sz="4200" b="1">
                <a:solidFill>
                  <a:srgbClr val="FFFFFF"/>
                </a:solidFill>
                <a:latin typeface="Arial"/>
                <a:ea typeface="Arial"/>
                <a:cs typeface="Arial"/>
              </a:rPr>
              <a:t>The company keeps its know-how.</a:t>
            </a:r>
          </a:p>
        </p:txBody>
      </p:sp>
      <p:sp>
        <p:nvSpPr>
          <p:cNvPr id="2" name="text-52">
            <a:extLst xmlns:a="http://schemas.openxmlformats.org/drawingml/2006/main">
              <a:ext uri="{FF2B5EF4-FFF2-40B4-BE49-F238E27FC236}">
                <a16:creationId xmlns:a16="http://schemas.microsoft.com/office/drawing/2014/main" id="{9F3BDDDF-BD20-49B3-9F72-5C037C1E9270}"/>
              </a:ext>
            </a:extLst>
          </p:cNvPr>
          <p:cNvSpPr>
            <a:spLocks xmlns:a="http://schemas.openxmlformats.org/drawingml/2006/main" noGrp="1"/>
          </p:cNvSpPr>
          <p:nvPr/>
        </p:nvSpPr>
        <p:spPr>
          <a:xfrm xmlns:a="http://schemas.openxmlformats.org/drawingml/2006/main">
            <a:off x="609600" y="3152775"/>
            <a:ext cx="10972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00" b="0">
                <a:solidFill>
                  <a:srgbClr val="FFFFFF"/>
                </a:solidFill>
                <a:latin typeface="Arial"/>
                <a:ea typeface="Arial"/>
                <a:cs typeface="Arial"/>
              </a:defRPr>
            </a:pPr>
            <a:r>
              <a:rPr sz="2600" b="0">
                <a:solidFill>
                  <a:srgbClr val="FFFFFF"/>
                </a:solidFill>
                <a:latin typeface="Arial"/>
                <a:ea typeface="Arial"/>
                <a:cs typeface="Arial"/>
              </a:rPr>
              <a:t>A judge can change a private quote or rule</a:t>
            </a:r>
          </a:p>
          <a:p xmlns:a="http://schemas.openxmlformats.org/drawingml/2006/main">
            <a:pPr algn="l">
              <a:defRPr sz="2600" b="0">
                <a:solidFill>
                  <a:srgbClr val="FFFFFF"/>
                </a:solidFill>
                <a:latin typeface="Arial"/>
                <a:ea typeface="Arial"/>
                <a:cs typeface="Arial"/>
              </a:defRPr>
            </a:pPr>
            <a:r>
              <a:rPr sz="2600" b="0">
                <a:solidFill>
                  <a:srgbClr val="FFFFFF"/>
                </a:solidFill>
                <a:latin typeface="Arial"/>
                <a:ea typeface="Arial"/>
                <a:cs typeface="Arial"/>
              </a:rPr>
              <a:t>and inspect the useful result.</a:t>
            </a:r>
          </a:p>
        </p:txBody>
      </p:sp>
      <p:sp>
        <p:nvSpPr>
          <p:cNvPr id="3" name="text-53">
            <a:extLst xmlns:a="http://schemas.openxmlformats.org/drawingml/2006/main">
              <a:ext uri="{FF2B5EF4-FFF2-40B4-BE49-F238E27FC236}">
                <a16:creationId xmlns:a16="http://schemas.microsoft.com/office/drawing/2014/main" id="{97824690-090E-4852-97F4-5105A064F62E}"/>
              </a:ext>
            </a:extLst>
          </p:cNvPr>
          <p:cNvSpPr>
            <a:spLocks xmlns:a="http://schemas.openxmlformats.org/drawingml/2006/main" noGrp="1"/>
          </p:cNvSpPr>
          <p:nvPr/>
        </p:nvSpPr>
        <p:spPr>
          <a:xfrm xmlns:a="http://schemas.openxmlformats.org/drawingml/2006/main">
            <a:off x="609600" y="510540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CBDDD5"/>
                </a:solidFill>
                <a:latin typeface="Arial"/>
                <a:ea typeface="Arial"/>
                <a:cs typeface="Arial"/>
              </a:defRPr>
            </a:pPr>
            <a:r>
              <a:rPr sz="2400" b="1">
                <a:solidFill>
                  <a:srgbClr val="CBDDD5"/>
                </a:solidFill>
                <a:latin typeface="Arial"/>
                <a:ea typeface="Arial"/>
                <a:cs typeface="Arial"/>
              </a:rPr>
              <a:t>ProofGate</a:t>
            </a:r>
          </a:p>
        </p:txBody>
      </p:sp>
      <p:sp>
        <p:nvSpPr>
          <p:cNvPr id="4" name="text-54">
            <a:extLst xmlns:a="http://schemas.openxmlformats.org/drawingml/2006/main">
              <a:ext uri="{FF2B5EF4-FFF2-40B4-BE49-F238E27FC236}">
                <a16:creationId xmlns:a16="http://schemas.microsoft.com/office/drawing/2014/main" id="{A0C9B140-1CF4-46E2-B51E-5C711ECC8680}"/>
              </a:ext>
            </a:extLst>
          </p:cNvPr>
          <p:cNvSpPr>
            <a:spLocks xmlns:a="http://schemas.openxmlformats.org/drawingml/2006/main" noGrp="1"/>
          </p:cNvSpPr>
          <p:nvPr/>
        </p:nvSpPr>
        <p:spPr>
          <a:xfrm xmlns:a="http://schemas.openxmlformats.org/drawingml/2006/main">
            <a:off x="609600" y="57721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Michał Jabłoński    Karol Krawczyk</a:t>
            </a:r>
          </a:p>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Kamil Krawczyk    Viktoriia Vinnykova</a:t>
            </a:r>
          </a:p>
        </p:txBody>
      </p:sp>
    </p:spTree>
    <p:extLst>
      <p:ext uri="{BB962C8B-B14F-4D97-AF65-F5344CB8AC3E}">
        <p14:creationId xmlns:p14="http://schemas.microsoft.com/office/powerpoint/2010/main" val="14999204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2026-10-04T02:38:27.4840000Z</dcterms:created>
  <dcterms:modified xsi:type="dcterms:W3CDTF">2026-10-04T02:38:27.4840000Z</dcterms:modified>
</coreProperties>
</file>